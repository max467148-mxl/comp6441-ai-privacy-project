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3149e3e2e94f1b" /><Relationship Type="http://schemas.openxmlformats.org/officeDocument/2006/relationships/extended-properties" Target="/docProps/app.xml" Id="Rdbddb3cbd04840b5" /><Relationship Type="http://schemas.openxmlformats.org/officeDocument/2006/relationships/officeDocument" Target="/ppt/presentation.xml" Id="Rdf4436f35e7343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44a2c6bd7a4d0f"/>
  </p:sldMasterIdLst>
  <p:notesMasterIdLst>
    <p:notesMasterId xmlns:r="http://schemas.openxmlformats.org/officeDocument/2006/relationships" r:id="R5d93c4f3271b4ff9"/>
  </p:notesMasterIdLst>
  <p:sldIdLst>
    <p:sldId xmlns:r="http://schemas.openxmlformats.org/officeDocument/2006/relationships" id="256" r:id="R367c6d0c6bf74a6f"/>
    <p:sldId xmlns:r="http://schemas.openxmlformats.org/officeDocument/2006/relationships" id="257" r:id="R7329db6458e74f69"/>
    <p:sldId xmlns:r="http://schemas.openxmlformats.org/officeDocument/2006/relationships" id="258" r:id="R619511fe60ba47de"/>
    <p:sldId xmlns:r="http://schemas.openxmlformats.org/officeDocument/2006/relationships" id="259" r:id="Rdefa6265b7c4469f"/>
    <p:sldId xmlns:r="http://schemas.openxmlformats.org/officeDocument/2006/relationships" id="260" r:id="Rabee4a365b8c49de"/>
    <p:sldId xmlns:r="http://schemas.openxmlformats.org/officeDocument/2006/relationships" id="261" r:id="R95f675df09524b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f2a5f9e9f94605" /><Relationship Type="http://schemas.openxmlformats.org/officeDocument/2006/relationships/slideMaster" Target="/ppt/slideMasters/slideMaster1.xml" Id="Rb544a2c6bd7a4d0f" /><Relationship Type="http://schemas.openxmlformats.org/officeDocument/2006/relationships/notesMaster" Target="/ppt/notesMasters/notesMaster1.xml" Id="R5d93c4f3271b4ff9" /><Relationship Type="http://schemas.openxmlformats.org/officeDocument/2006/relationships/presProps" Target="/ppt/presProps.xml" Id="R30f466f1994f432e" /><Relationship Type="http://schemas.openxmlformats.org/officeDocument/2006/relationships/tableStyles" Target="/ppt/tableStyles.xml" Id="R4b8dafb4f8144737" /><Relationship Type="http://schemas.openxmlformats.org/officeDocument/2006/relationships/slide" Target="/ppt/slides/slide1.xml" Id="R367c6d0c6bf74a6f" /><Relationship Type="http://schemas.openxmlformats.org/officeDocument/2006/relationships/slide" Target="/ppt/slides/slide2.xml" Id="R7329db6458e74f69" /><Relationship Type="http://schemas.openxmlformats.org/officeDocument/2006/relationships/slide" Target="/ppt/slides/slide3.xml" Id="R619511fe60ba47de" /><Relationship Type="http://schemas.openxmlformats.org/officeDocument/2006/relationships/slide" Target="/ppt/slides/slide4.xml" Id="Rdefa6265b7c4469f" /><Relationship Type="http://schemas.openxmlformats.org/officeDocument/2006/relationships/slide" Target="/ppt/slides/slide5.xml" Id="Rabee4a365b8c49de" /><Relationship Type="http://schemas.openxmlformats.org/officeDocument/2006/relationships/slide" Target="/ppt/slides/slide6.xml" Id="R95f675df09524b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ff956949ff48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604afb0b834fc1" /><Relationship Type="http://schemas.openxmlformats.org/officeDocument/2006/relationships/notesMaster" Target="/ppt/notesMasters/notesMaster1.xml" Id="R92ab6aad55ff4c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30b4c30e144fad" /><Relationship Type="http://schemas.openxmlformats.org/officeDocument/2006/relationships/notesMaster" Target="/ppt/notesMasters/notesMaster1.xml" Id="R26a4720ff75a4b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13d82993614198" /><Relationship Type="http://schemas.openxmlformats.org/officeDocument/2006/relationships/notesMaster" Target="/ppt/notesMasters/notesMaster1.xml" Id="Rff9ed0b8164d49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2c752aa07f4d6a" /><Relationship Type="http://schemas.openxmlformats.org/officeDocument/2006/relationships/notesMaster" Target="/ppt/notesMasters/notesMaster1.xml" Id="R5de10b26e6b74e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cb1f39d5594580" /><Relationship Type="http://schemas.openxmlformats.org/officeDocument/2006/relationships/notesMaster" Target="/ppt/notesMasters/notesMaster1.xml" Id="R1c2014fb487741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e64ad3fd1741c5" /><Relationship Type="http://schemas.openxmlformats.org/officeDocument/2006/relationships/notesMaster" Target="/ppt/notesMasters/notesMaster1.xml" Id="Rc02683061bac4b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e5347292448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ffce09a1864d16" /><Relationship Type="http://schemas.openxmlformats.org/officeDocument/2006/relationships/slideLayout" Target="/ppt/slideLayouts/slideLayout1.xml" Id="Ra7ca1985585441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ca1985585441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57c28a01a47a5" /><Relationship Type="http://schemas.openxmlformats.org/officeDocument/2006/relationships/notesSlide" Target="/ppt/notesSlides/notesSlide1.xml" Id="Rff4ec3e9ec9b48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136ffbd724676" /><Relationship Type="http://schemas.openxmlformats.org/officeDocument/2006/relationships/notesSlide" Target="/ppt/notesSlides/notesSlide2.xml" Id="R9ef5001376da4d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27ffd35f2425b" /><Relationship Type="http://schemas.openxmlformats.org/officeDocument/2006/relationships/image" Target="/ppt/media/image.jpeg" Id="Rb830dc5638754c71" /><Relationship Type="http://schemas.openxmlformats.org/officeDocument/2006/relationships/notesSlide" Target="/ppt/notesSlides/notesSlide3.xml" Id="R6dfee9ff329b43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8c93d10304881" /><Relationship Type="http://schemas.openxmlformats.org/officeDocument/2006/relationships/chart" Target="/ppt/slides/charts/chart1.xml" Id="Rf7cb929dd95f4e06" /><Relationship Type="http://schemas.openxmlformats.org/officeDocument/2006/relationships/notesSlide" Target="/ppt/notesSlides/notesSlide4.xml" Id="Rd39b0c05663a47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fa0b092de449e" /><Relationship Type="http://schemas.openxmlformats.org/officeDocument/2006/relationships/chart" Target="/ppt/slides/charts/chart2.xml" Id="R4f095b428b3f43f1" /><Relationship Type="http://schemas.openxmlformats.org/officeDocument/2006/relationships/notesSlide" Target="/ppt/notesSlides/notesSlide5.xml" Id="R87d3e1d27dbf43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1b05966474433" /><Relationship Type="http://schemas.openxmlformats.org/officeDocument/2006/relationships/notesSlide" Target="/ppt/notesSlides/notesSlide6.xml" Id="R0a7dd8ae885d4e4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Leakage score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No memory</c:v>
              </c:pt>
              <c:pt idx="1">
                <c:v>Limited</c:v>
              </c:pt>
              <c:pt idx="2">
                <c:v>Compartment</c:v>
              </c:pt>
              <c:pt idx="3">
                <c:v>Full aggregate</c:v>
              </c:pt>
            </c:strLit>
          </c:cat>
          <c:val>
            <c:numLit>
              <c:formatCode>General</c:formatCode>
              <c:ptCount val="4"/>
              <c:pt idx="0">
                <c:v>53</c:v>
              </c:pt>
              <c:pt idx="1">
                <c:v>83</c:v>
              </c:pt>
              <c:pt idx="2">
                <c:v>93</c:v>
              </c:pt>
              <c:pt idx="3">
                <c:v>97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Leakage score (%)</c:v>
          </c:tx>
          <c:spPr>
            <a:solidFill xmlns:a="http://schemas.openxmlformats.org/drawingml/2006/main">
              <a:srgbClr val="D85B4A"/>
            </a:solidFill>
          </c:spPr>
          <c:cat>
            <c:strLit>
              <c:ptCount val="3"/>
              <c:pt idx="0">
                <c:v>No mitigation</c:v>
              </c:pt>
              <c:pt idx="1">
                <c:v>Generalise details</c:v>
              </c:pt>
              <c:pt idx="2">
                <c:v>Warning prompt</c:v>
              </c:pt>
            </c:strLit>
          </c:cat>
          <c:val>
            <c:numLit>
              <c:formatCode>General</c:formatCode>
              <c:ptCount val="3"/>
              <c:pt idx="0">
                <c:v>97</c:v>
              </c:pt>
              <c:pt idx="1">
                <c:v>93</c:v>
              </c:pt>
              <c:pt idx="2">
                <c:v>97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urse-label-bg">
            <a:extLst xmlns:a="http://schemas.openxmlformats.org/drawingml/2006/main">
              <a:ext uri="{FF2B5EF4-FFF2-40B4-BE49-F238E27FC236}">
                <a16:creationId xmlns:a16="http://schemas.microsoft.com/office/drawing/2014/main" id="{E671038F-063C-437D-B686-F004A56C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43DA12B9-E5D8-4A96-BA1A-FAF34127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418"/>
                </a:solidFill>
              </a:defRPr>
            </a:pPr>
            <a:r>
              <a:rPr sz="1050" b="1">
                <a:solidFill>
                  <a:srgbClr val="101418"/>
                </a:solidFill>
              </a:rPr>
              <a:t>COMP6441  |  CYBERSECURITY INDEPENDENT PROJECT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10EDE76-9940-4A78-9043-5265DD5F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838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418"/>
                </a:solidFill>
              </a:defRPr>
            </a:pPr>
            <a:r>
              <a:rPr sz="4350" b="1">
                <a:solidFill>
                  <a:srgbClr val="101418"/>
                </a:solidFill>
              </a:rPr>
              <a:t>When harmless fragments</a:t>
            </a:r>
          </a:p>
          <a:p xmlns:a="http://schemas.openxmlformats.org/drawingml/2006/main">
            <a:pPr algn="l">
              <a:defRPr sz="4350" b="1">
                <a:solidFill>
                  <a:srgbClr val="101418"/>
                </a:solidFill>
              </a:defRPr>
            </a:pPr>
            <a:r>
              <a:rPr sz="4350" b="1">
                <a:solidFill>
                  <a:srgbClr val="101418"/>
                </a:solidFill>
              </a:rPr>
              <a:t>become sensitive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ACD6D89-52E4-4F17-BFCF-75AA1995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06A"/>
                </a:solidFill>
              </a:defRPr>
            </a:pPr>
            <a:r>
              <a:rPr sz="1800" b="0">
                <a:solidFill>
                  <a:srgbClr val="53606A"/>
                </a:solidFill>
              </a:rPr>
              <a:t>Measuring privacy leakage through AI context aggregation</a:t>
            </a:r>
          </a:p>
        </p:txBody>
      </p:sp>
      <p:sp>
        <p:nvSpPr>
          <p:cNvPr id="5" name="fragment-0-panel">
            <a:extLst xmlns:a="http://schemas.openxmlformats.org/drawingml/2006/main">
              <a:ext uri="{FF2B5EF4-FFF2-40B4-BE49-F238E27FC236}">
                <a16:creationId xmlns:a16="http://schemas.microsoft.com/office/drawing/2014/main" id="{BE69D366-AAF0-4C3D-BA0B-A9C3C4AB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ragment-0">
            <a:extLst xmlns:a="http://schemas.openxmlformats.org/drawingml/2006/main">
              <a:ext uri="{FF2B5EF4-FFF2-40B4-BE49-F238E27FC236}">
                <a16:creationId xmlns:a16="http://schemas.microsoft.com/office/drawing/2014/main" id="{2944131F-D84D-4F90-82B7-C51F03C2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907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7:42 bus</a:t>
            </a:r>
          </a:p>
        </p:txBody>
      </p:sp>
      <p:sp>
        <p:nvSpPr>
          <p:cNvPr id="7" name="fragment-1-panel">
            <a:extLst xmlns:a="http://schemas.openxmlformats.org/drawingml/2006/main">
              <a:ext uri="{FF2B5EF4-FFF2-40B4-BE49-F238E27FC236}">
                <a16:creationId xmlns:a16="http://schemas.microsoft.com/office/drawing/2014/main" id="{DF3BB110-68C0-4697-81AC-6D4D235A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57162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ragment-1">
            <a:extLst xmlns:a="http://schemas.openxmlformats.org/drawingml/2006/main">
              <a:ext uri="{FF2B5EF4-FFF2-40B4-BE49-F238E27FC236}">
                <a16:creationId xmlns:a16="http://schemas.microsoft.com/office/drawing/2014/main" id="{AB49E37A-DE27-4154-A354-204E8D1F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7907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campus library</a:t>
            </a:r>
          </a:p>
        </p:txBody>
      </p:sp>
      <p:sp>
        <p:nvSpPr>
          <p:cNvPr id="9" name="fragment-2-panel">
            <a:extLst xmlns:a="http://schemas.openxmlformats.org/drawingml/2006/main">
              <a:ext uri="{FF2B5EF4-FFF2-40B4-BE49-F238E27FC236}">
                <a16:creationId xmlns:a16="http://schemas.microsoft.com/office/drawing/2014/main" id="{93BCD70C-B2D1-489C-9080-BD2748A5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ragment-2">
            <a:extLst xmlns:a="http://schemas.openxmlformats.org/drawingml/2006/main">
              <a:ext uri="{FF2B5EF4-FFF2-40B4-BE49-F238E27FC236}">
                <a16:creationId xmlns:a16="http://schemas.microsoft.com/office/drawing/2014/main" id="{5CFD3DE7-6C10-497C-BA38-C550F82C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9082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shared rent</a:t>
            </a:r>
          </a:p>
        </p:txBody>
      </p:sp>
      <p:sp>
        <p:nvSpPr>
          <p:cNvPr id="11" name="fragment-3-panel">
            <a:extLst xmlns:a="http://schemas.openxmlformats.org/drawingml/2006/main">
              <a:ext uri="{FF2B5EF4-FFF2-40B4-BE49-F238E27FC236}">
                <a16:creationId xmlns:a16="http://schemas.microsoft.com/office/drawing/2014/main" id="{69AB7C65-8E03-4FF2-B6D9-F162B80E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717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ragment-3">
            <a:extLst xmlns:a="http://schemas.openxmlformats.org/drawingml/2006/main">
              <a:ext uri="{FF2B5EF4-FFF2-40B4-BE49-F238E27FC236}">
                <a16:creationId xmlns:a16="http://schemas.microsoft.com/office/drawing/2014/main" id="{18CACD21-B0F2-4190-A553-A7AFA136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79082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evening class</a:t>
            </a:r>
          </a:p>
        </p:txBody>
      </p:sp>
      <p:sp>
        <p:nvSpPr>
          <p:cNvPr id="13" name="fragment-4-panel">
            <a:extLst xmlns:a="http://schemas.openxmlformats.org/drawingml/2006/main">
              <a:ext uri="{FF2B5EF4-FFF2-40B4-BE49-F238E27FC236}">
                <a16:creationId xmlns:a16="http://schemas.microsoft.com/office/drawing/2014/main" id="{6320E2CF-81B5-466B-AE72-57625466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ragment-4">
            <a:extLst xmlns:a="http://schemas.openxmlformats.org/drawingml/2006/main">
              <a:ext uri="{FF2B5EF4-FFF2-40B4-BE49-F238E27FC236}">
                <a16:creationId xmlns:a16="http://schemas.microsoft.com/office/drawing/2014/main" id="{23C32E43-C5E5-4B41-8FB0-E00E819D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909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</a:defRPr>
            </a:pPr>
            <a:r>
              <a:rPr sz="1275" b="0">
                <a:solidFill>
                  <a:srgbClr val="101418"/>
                </a:solidFill>
              </a:rPr>
              <a:t>ocean pool</a:t>
            </a:r>
          </a:p>
        </p:txBody>
      </p:sp>
      <p:sp>
        <p:nvSpPr>
          <p:cNvPr id="15" name="fragment-5-panel">
            <a:extLst xmlns:a="http://schemas.openxmlformats.org/drawingml/2006/main">
              <a:ext uri="{FF2B5EF4-FFF2-40B4-BE49-F238E27FC236}">
                <a16:creationId xmlns:a16="http://schemas.microsoft.com/office/drawing/2014/main" id="{12675E57-2FEA-4704-8E86-3B278D5E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57187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ragment-5">
            <a:extLst xmlns:a="http://schemas.openxmlformats.org/drawingml/2006/main">
              <a:ext uri="{FF2B5EF4-FFF2-40B4-BE49-F238E27FC236}">
                <a16:creationId xmlns:a16="http://schemas.microsoft.com/office/drawing/2014/main" id="{E99CB041-79D7-4881-927D-C71A8B6E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7909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8"/>
                </a:solidFill>
              </a:defRPr>
            </a:pPr>
            <a:r>
              <a:rPr sz="1275" b="1">
                <a:solidFill>
                  <a:srgbClr val="101418"/>
                </a:solidFill>
              </a:rPr>
              <a:t>retail shift</a:t>
            </a:r>
          </a:p>
        </p:txBody>
      </p:sp>
      <p:sp>
        <p:nvSpPr>
          <p:cNvPr id="17" name="cover-meta">
            <a:extLst xmlns:a="http://schemas.openxmlformats.org/drawingml/2006/main">
              <a:ext uri="{FF2B5EF4-FFF2-40B4-BE49-F238E27FC236}">
                <a16:creationId xmlns:a16="http://schemas.microsoft.com/office/drawing/2014/main" id="{E9D22CE0-D002-4553-9DA0-DE22FE3C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19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Xiaolong Ma  |  z5557885  |  90 controlled prompts</a:t>
            </a:r>
          </a:p>
        </p:txBody>
      </p:sp>
      <p:sp>
        <p:nvSpPr>
          <p:cNvPr id="18" name="cover-takeaway">
            <a:extLst xmlns:a="http://schemas.openxmlformats.org/drawingml/2006/main">
              <a:ext uri="{FF2B5EF4-FFF2-40B4-BE49-F238E27FC236}">
                <a16:creationId xmlns:a16="http://schemas.microsoft.com/office/drawing/2014/main" id="{514A6551-FE5F-4D4E-B2A1-5C50DE38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00625"/>
            <a:ext cx="366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The combination reveals more than any single item.</a:t>
            </a:r>
          </a:p>
        </p:txBody>
      </p:sp>
    </p:spTree>
    <p:extLst>
      <p:ext uri="{BB962C8B-B14F-4D97-AF65-F5344CB8AC3E}">
        <p14:creationId xmlns:p14="http://schemas.microsoft.com/office/powerpoint/2010/main" val="576281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007ACAD-635F-4BD0-AFDC-26F7CA7D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2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Aggregation creates a new disclosure surface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17CEAE34-8C5C-4DB8-8193-924FD836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02</a:t>
            </a:r>
          </a:p>
        </p:txBody>
      </p:sp>
      <p:sp>
        <p:nvSpPr>
          <p:cNvPr id="3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BE3E0986-A0D2-40B7-9BF3-E7DF1996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3CF8C000-71F2-4649-9517-7EA224D6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90825"/>
            <a:ext cx="6858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E0DF0349-FCC5-4F47-A0A8-1619C623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90825"/>
            <a:ext cx="6858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3E96C418-07D5-4623-9339-404FD70A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90825"/>
            <a:ext cx="6858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0-panel">
            <a:extLst xmlns:a="http://schemas.openxmlformats.org/drawingml/2006/main">
              <a:ext uri="{FF2B5EF4-FFF2-40B4-BE49-F238E27FC236}">
                <a16:creationId xmlns:a16="http://schemas.microsoft.com/office/drawing/2014/main" id="{010C57AA-81BA-4757-8DD7-3C5B84EE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0-number">
            <a:extLst xmlns:a="http://schemas.openxmlformats.org/drawingml/2006/main">
              <a:ext uri="{FF2B5EF4-FFF2-40B4-BE49-F238E27FC236}">
                <a16:creationId xmlns:a16="http://schemas.microsoft.com/office/drawing/2014/main" id="{AD0A5773-7D5F-4E5D-A38E-A041B402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flow-0-heading">
            <a:extLst xmlns:a="http://schemas.openxmlformats.org/drawingml/2006/main">
              <a:ext uri="{FF2B5EF4-FFF2-40B4-BE49-F238E27FC236}">
                <a16:creationId xmlns:a16="http://schemas.microsoft.com/office/drawing/2014/main" id="{4D8EED07-A9C7-4E66-9CCB-F77BA635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</a:defRPr>
            </a:pPr>
            <a:r>
              <a:rPr sz="1575" b="1">
                <a:solidFill>
                  <a:srgbClr val="101418"/>
                </a:solidFill>
              </a:rPr>
              <a:t>Ordinary fragments</a:t>
            </a:r>
          </a:p>
        </p:txBody>
      </p:sp>
      <p:sp>
        <p:nvSpPr>
          <p:cNvPr id="10" name="flow-0-body">
            <a:extLst xmlns:a="http://schemas.openxmlformats.org/drawingml/2006/main">
              <a:ext uri="{FF2B5EF4-FFF2-40B4-BE49-F238E27FC236}">
                <a16:creationId xmlns:a16="http://schemas.microsoft.com/office/drawing/2014/main" id="{73462801-79A3-458E-A968-3C8161FF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Transport, study, shopping, work</a:t>
            </a:r>
          </a:p>
        </p:txBody>
      </p:sp>
      <p:sp>
        <p:nvSpPr>
          <p:cNvPr id="11" name="flow-1-panel">
            <a:extLst xmlns:a="http://schemas.openxmlformats.org/drawingml/2006/main">
              <a:ext uri="{FF2B5EF4-FFF2-40B4-BE49-F238E27FC236}">
                <a16:creationId xmlns:a16="http://schemas.microsoft.com/office/drawing/2014/main" id="{5C92DA1D-CF3C-40EE-BBC8-90ED1510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1-number">
            <a:extLst xmlns:a="http://schemas.openxmlformats.org/drawingml/2006/main">
              <a:ext uri="{FF2B5EF4-FFF2-40B4-BE49-F238E27FC236}">
                <a16:creationId xmlns:a16="http://schemas.microsoft.com/office/drawing/2014/main" id="{828B631A-AC08-44B6-9A88-123ED3AC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flow-1-heading">
            <a:extLst xmlns:a="http://schemas.openxmlformats.org/drawingml/2006/main">
              <a:ext uri="{FF2B5EF4-FFF2-40B4-BE49-F238E27FC236}">
                <a16:creationId xmlns:a16="http://schemas.microsoft.com/office/drawing/2014/main" id="{B55CCC06-5C38-44DC-AA04-2116E041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</a:defRPr>
            </a:pPr>
            <a:r>
              <a:rPr sz="1575" b="1">
                <a:solidFill>
                  <a:srgbClr val="101418"/>
                </a:solidFill>
              </a:rPr>
              <a:t>Context policy</a:t>
            </a:r>
          </a:p>
        </p:txBody>
      </p:sp>
      <p:sp>
        <p:nvSpPr>
          <p:cNvPr id="14" name="flow-1-body">
            <a:extLst xmlns:a="http://schemas.openxmlformats.org/drawingml/2006/main">
              <a:ext uri="{FF2B5EF4-FFF2-40B4-BE49-F238E27FC236}">
                <a16:creationId xmlns:a16="http://schemas.microsoft.com/office/drawing/2014/main" id="{683B1FEA-8CC9-4827-837B-E8A31A6B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Which memories cross the task boundary?</a:t>
            </a:r>
          </a:p>
        </p:txBody>
      </p:sp>
      <p:sp>
        <p:nvSpPr>
          <p:cNvPr id="15" name="flow-2-panel">
            <a:extLst xmlns:a="http://schemas.openxmlformats.org/drawingml/2006/main">
              <a:ext uri="{FF2B5EF4-FFF2-40B4-BE49-F238E27FC236}">
                <a16:creationId xmlns:a16="http://schemas.microsoft.com/office/drawing/2014/main" id="{D3349DA9-E405-406F-9A33-25EA1FD0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2-number">
            <a:extLst xmlns:a="http://schemas.openxmlformats.org/drawingml/2006/main">
              <a:ext uri="{FF2B5EF4-FFF2-40B4-BE49-F238E27FC236}">
                <a16:creationId xmlns:a16="http://schemas.microsoft.com/office/drawing/2014/main" id="{7FDD8B8E-4E8F-4E04-9559-57B70D02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flow-2-heading">
            <a:extLst xmlns:a="http://schemas.openxmlformats.org/drawingml/2006/main">
              <a:ext uri="{FF2B5EF4-FFF2-40B4-BE49-F238E27FC236}">
                <a16:creationId xmlns:a16="http://schemas.microsoft.com/office/drawing/2014/main" id="{7DCDCBB6-406E-4198-99F0-73E5E8AB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</a:defRPr>
            </a:pPr>
            <a:r>
              <a:rPr sz="1575" b="1">
                <a:solidFill>
                  <a:srgbClr val="101418"/>
                </a:solidFill>
              </a:rPr>
              <a:t>Model inference</a:t>
            </a:r>
          </a:p>
        </p:txBody>
      </p:sp>
      <p:sp>
        <p:nvSpPr>
          <p:cNvPr id="18" name="flow-2-body">
            <a:extLst xmlns:a="http://schemas.openxmlformats.org/drawingml/2006/main">
              <a:ext uri="{FF2B5EF4-FFF2-40B4-BE49-F238E27FC236}">
                <a16:creationId xmlns:a16="http://schemas.microsoft.com/office/drawing/2014/main" id="{D578EC5A-779B-48F9-910B-4507B70B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Correlates time, place and purpose</a:t>
            </a:r>
          </a:p>
        </p:txBody>
      </p:sp>
      <p:sp>
        <p:nvSpPr>
          <p:cNvPr id="19" name="flow-3-panel">
            <a:extLst xmlns:a="http://schemas.openxmlformats.org/drawingml/2006/main">
              <a:ext uri="{FF2B5EF4-FFF2-40B4-BE49-F238E27FC236}">
                <a16:creationId xmlns:a16="http://schemas.microsoft.com/office/drawing/2014/main" id="{9C96CF35-B391-4E7F-A677-DADE4C3F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3-number">
            <a:extLst xmlns:a="http://schemas.openxmlformats.org/drawingml/2006/main">
              <a:ext uri="{FF2B5EF4-FFF2-40B4-BE49-F238E27FC236}">
                <a16:creationId xmlns:a16="http://schemas.microsoft.com/office/drawing/2014/main" id="{ACB6567C-99E4-4DC1-A056-7D7D212E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flow-3-heading">
            <a:extLst xmlns:a="http://schemas.openxmlformats.org/drawingml/2006/main">
              <a:ext uri="{FF2B5EF4-FFF2-40B4-BE49-F238E27FC236}">
                <a16:creationId xmlns:a16="http://schemas.microsoft.com/office/drawing/2014/main" id="{7F17CAC2-03B6-42AC-9F18-F96BA0B1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</a:defRPr>
            </a:pPr>
            <a:r>
              <a:rPr sz="1575" b="1">
                <a:solidFill>
                  <a:srgbClr val="101418"/>
                </a:solidFill>
              </a:rPr>
              <a:t>Sensitive profile</a:t>
            </a:r>
          </a:p>
        </p:txBody>
      </p:sp>
      <p:sp>
        <p:nvSpPr>
          <p:cNvPr id="22" name="flow-3-body">
            <a:extLst xmlns:a="http://schemas.openxmlformats.org/drawingml/2006/main">
              <a:ext uri="{FF2B5EF4-FFF2-40B4-BE49-F238E27FC236}">
                <a16:creationId xmlns:a16="http://schemas.microsoft.com/office/drawing/2014/main" id="{ABCFF89F-22BD-4934-9A7E-DD83F687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Location, schedule, occupation, finance</a:t>
            </a:r>
          </a:p>
        </p:txBody>
      </p:sp>
      <p:sp>
        <p:nvSpPr>
          <p:cNvPr id="23" name="linddun">
            <a:extLst xmlns:a="http://schemas.openxmlformats.org/drawingml/2006/main">
              <a:ext uri="{FF2B5EF4-FFF2-40B4-BE49-F238E27FC236}">
                <a16:creationId xmlns:a16="http://schemas.microsoft.com/office/drawing/2014/main" id="{4445CAA6-4A1A-4202-8F29-57B718C7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</a:defRPr>
            </a:pPr>
            <a:r>
              <a:rPr sz="1650" b="1">
                <a:solidFill>
                  <a:srgbClr val="101418"/>
                </a:solidFill>
              </a:rPr>
              <a:t>LINDDUN focus: linkability enables inference and disclosure</a:t>
            </a:r>
          </a:p>
        </p:txBody>
      </p:sp>
      <p:sp>
        <p:nvSpPr>
          <p:cNvPr id="24" name="scope">
            <a:extLst xmlns:a="http://schemas.openxmlformats.org/drawingml/2006/main">
              <a:ext uri="{FF2B5EF4-FFF2-40B4-BE49-F238E27FC236}">
                <a16:creationId xmlns:a16="http://schemas.microsoft.com/office/drawing/2014/main" id="{6F8BD253-4549-4602-968B-903BEA5D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A"/>
                </a:solidFill>
              </a:defRPr>
            </a:pPr>
            <a:r>
              <a:rPr sz="1350" b="0">
                <a:solidFill>
                  <a:srgbClr val="53606A"/>
                </a:solidFill>
              </a:rPr>
              <a:t>Synthetic profiles only. No real-person identification, secret extraction or cross-user data access.</a:t>
            </a:r>
          </a:p>
        </p:txBody>
      </p:sp>
    </p:spTree>
    <p:extLst>
      <p:ext uri="{BB962C8B-B14F-4D97-AF65-F5344CB8AC3E}">
        <p14:creationId xmlns:p14="http://schemas.microsoft.com/office/powerpoint/2010/main" val="461001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A876A8B-DBA6-4153-88C6-38638D65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2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Ninety isolated trials tested context and controls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CF4E4FA0-A4B0-4BF3-A2D1-5AFB7AF7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03</a:t>
            </a:r>
          </a:p>
        </p:txBody>
      </p:sp>
      <p:sp>
        <p:nvSpPr>
          <p:cNvPr id="3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ED81ED3D-32BE-4790-A31C-23F9B708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files-panel">
            <a:extLst xmlns:a="http://schemas.openxmlformats.org/drawingml/2006/main">
              <a:ext uri="{FF2B5EF4-FFF2-40B4-BE49-F238E27FC236}">
                <a16:creationId xmlns:a16="http://schemas.microsoft.com/office/drawing/2014/main" id="{AA9F06D6-4DE1-45F9-96A2-640048BB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952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files-accent">
            <a:extLst xmlns:a="http://schemas.openxmlformats.org/drawingml/2006/main">
              <a:ext uri="{FF2B5EF4-FFF2-40B4-BE49-F238E27FC236}">
                <a16:creationId xmlns:a16="http://schemas.microsoft.com/office/drawing/2014/main" id="{2A39FAE3-A6BD-49D4-B71C-58D0A5D9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files-value">
            <a:extLst xmlns:a="http://schemas.openxmlformats.org/drawingml/2006/main">
              <a:ext uri="{FF2B5EF4-FFF2-40B4-BE49-F238E27FC236}">
                <a16:creationId xmlns:a16="http://schemas.microsoft.com/office/drawing/2014/main" id="{89D35C25-EEAC-484F-A5FB-9731CE12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533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</a:defRPr>
            </a:pPr>
            <a:r>
              <a:rPr sz="3450" b="1">
                <a:solidFill>
                  <a:srgbClr val="101418"/>
                </a:solidFill>
              </a:rPr>
              <a:t>3</a:t>
            </a:r>
          </a:p>
        </p:txBody>
      </p:sp>
      <p:sp>
        <p:nvSpPr>
          <p:cNvPr id="7" name="profiles-label">
            <a:extLst xmlns:a="http://schemas.openxmlformats.org/drawingml/2006/main">
              <a:ext uri="{FF2B5EF4-FFF2-40B4-BE49-F238E27FC236}">
                <a16:creationId xmlns:a16="http://schemas.microsoft.com/office/drawing/2014/main" id="{1D808DEA-6D74-4A59-A919-1B9EAC16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A"/>
                </a:solidFill>
              </a:defRPr>
            </a:pPr>
            <a:r>
              <a:rPr sz="1275" b="0">
                <a:solidFill>
                  <a:srgbClr val="53606A"/>
                </a:solidFill>
              </a:rPr>
              <a:t>synthetic profiles</a:t>
            </a:r>
          </a:p>
        </p:txBody>
      </p:sp>
      <p:sp>
        <p:nvSpPr>
          <p:cNvPr id="8" name="prompts-panel">
            <a:extLst xmlns:a="http://schemas.openxmlformats.org/drawingml/2006/main">
              <a:ext uri="{FF2B5EF4-FFF2-40B4-BE49-F238E27FC236}">
                <a16:creationId xmlns:a16="http://schemas.microsoft.com/office/drawing/2014/main" id="{0537B676-93C9-4EA7-A75D-FD12BFAF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466850"/>
            <a:ext cx="1952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mpts-accent">
            <a:extLst xmlns:a="http://schemas.openxmlformats.org/drawingml/2006/main">
              <a:ext uri="{FF2B5EF4-FFF2-40B4-BE49-F238E27FC236}">
                <a16:creationId xmlns:a16="http://schemas.microsoft.com/office/drawing/2014/main" id="{82897A5E-F421-4866-B14B-34DBA377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466850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mpts-value">
            <a:extLst xmlns:a="http://schemas.openxmlformats.org/drawingml/2006/main">
              <a:ext uri="{FF2B5EF4-FFF2-40B4-BE49-F238E27FC236}">
                <a16:creationId xmlns:a16="http://schemas.microsoft.com/office/drawing/2014/main" id="{F32AB2E5-C1AD-4C5E-AB03-6B63B870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71650"/>
            <a:ext cx="1533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</a:defRPr>
            </a:pPr>
            <a:r>
              <a:rPr sz="3450" b="1">
                <a:solidFill>
                  <a:srgbClr val="101418"/>
                </a:solidFill>
              </a:rPr>
              <a:t>90</a:t>
            </a:r>
          </a:p>
        </p:txBody>
      </p:sp>
      <p:sp>
        <p:nvSpPr>
          <p:cNvPr id="11" name="prompts-label">
            <a:extLst xmlns:a="http://schemas.openxmlformats.org/drawingml/2006/main">
              <a:ext uri="{FF2B5EF4-FFF2-40B4-BE49-F238E27FC236}">
                <a16:creationId xmlns:a16="http://schemas.microsoft.com/office/drawing/2014/main" id="{47A817E6-FEC1-48DE-A429-AF5BFA55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14600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A"/>
                </a:solidFill>
              </a:defRPr>
            </a:pPr>
            <a:r>
              <a:rPr sz="1275" b="0">
                <a:solidFill>
                  <a:srgbClr val="53606A"/>
                </a:solidFill>
              </a:rPr>
              <a:t>first responses preserved</a:t>
            </a:r>
          </a:p>
        </p:txBody>
      </p:sp>
      <p:sp>
        <p:nvSpPr>
          <p:cNvPr id="12" name="baseline-panel">
            <a:extLst xmlns:a="http://schemas.openxmlformats.org/drawingml/2006/main">
              <a:ext uri="{FF2B5EF4-FFF2-40B4-BE49-F238E27FC236}">
                <a16:creationId xmlns:a16="http://schemas.microsoft.com/office/drawing/2014/main" id="{6051F794-36EC-446C-962A-757A29A5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2325"/>
            <a:ext cx="1952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aseline-accent">
            <a:extLst xmlns:a="http://schemas.openxmlformats.org/drawingml/2006/main">
              <a:ext uri="{FF2B5EF4-FFF2-40B4-BE49-F238E27FC236}">
                <a16:creationId xmlns:a16="http://schemas.microsoft.com/office/drawing/2014/main" id="{3697E256-3E79-41E1-B8D1-81222BF4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2325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seline-value">
            <a:extLst xmlns:a="http://schemas.openxmlformats.org/drawingml/2006/main">
              <a:ext uri="{FF2B5EF4-FFF2-40B4-BE49-F238E27FC236}">
                <a16:creationId xmlns:a16="http://schemas.microsoft.com/office/drawing/2014/main" id="{9F9E2CCB-563D-4D45-8214-46AA9AB6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533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</a:defRPr>
            </a:pPr>
            <a:r>
              <a:rPr sz="3450" b="1">
                <a:solidFill>
                  <a:srgbClr val="101418"/>
                </a:solidFill>
              </a:rPr>
              <a:t>60</a:t>
            </a:r>
          </a:p>
        </p:txBody>
      </p:sp>
      <p:sp>
        <p:nvSpPr>
          <p:cNvPr id="15" name="baseline-label">
            <a:extLst xmlns:a="http://schemas.openxmlformats.org/drawingml/2006/main">
              <a:ext uri="{FF2B5EF4-FFF2-40B4-BE49-F238E27FC236}">
                <a16:creationId xmlns:a16="http://schemas.microsoft.com/office/drawing/2014/main" id="{166399EB-AE50-455A-92F4-0854AEE7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A"/>
                </a:solidFill>
              </a:defRPr>
            </a:pPr>
            <a:r>
              <a:rPr sz="1275" b="0">
                <a:solidFill>
                  <a:srgbClr val="53606A"/>
                </a:solidFill>
              </a:rPr>
              <a:t>4 contexts x 5 questions</a:t>
            </a:r>
          </a:p>
        </p:txBody>
      </p:sp>
      <p:sp>
        <p:nvSpPr>
          <p:cNvPr id="16" name="mitigation-panel">
            <a:extLst xmlns:a="http://schemas.openxmlformats.org/drawingml/2006/main">
              <a:ext uri="{FF2B5EF4-FFF2-40B4-BE49-F238E27FC236}">
                <a16:creationId xmlns:a16="http://schemas.microsoft.com/office/drawing/2014/main" id="{BF6AF429-9B49-47B6-B566-25007F04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62325"/>
            <a:ext cx="1952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itigation-accent">
            <a:extLst xmlns:a="http://schemas.openxmlformats.org/drawingml/2006/main">
              <a:ext uri="{FF2B5EF4-FFF2-40B4-BE49-F238E27FC236}">
                <a16:creationId xmlns:a16="http://schemas.microsoft.com/office/drawing/2014/main" id="{0D7DA909-2FAC-4FD0-85E9-11A716B1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62325"/>
            <a:ext cx="19526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itigation-value">
            <a:extLst xmlns:a="http://schemas.openxmlformats.org/drawingml/2006/main">
              <a:ext uri="{FF2B5EF4-FFF2-40B4-BE49-F238E27FC236}">
                <a16:creationId xmlns:a16="http://schemas.microsoft.com/office/drawing/2014/main" id="{4C5B74CC-4489-4A8C-BD35-7C0AA91E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67125"/>
            <a:ext cx="1533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</a:defRPr>
            </a:pPr>
            <a:r>
              <a:rPr sz="3450" b="1">
                <a:solidFill>
                  <a:srgbClr val="101418"/>
                </a:solidFill>
              </a:rPr>
              <a:t>30</a:t>
            </a:r>
          </a:p>
        </p:txBody>
      </p:sp>
      <p:sp>
        <p:nvSpPr>
          <p:cNvPr id="19" name="mitigation-label">
            <a:extLst xmlns:a="http://schemas.openxmlformats.org/drawingml/2006/main">
              <a:ext uri="{FF2B5EF4-FFF2-40B4-BE49-F238E27FC236}">
                <a16:creationId xmlns:a16="http://schemas.microsoft.com/office/drawing/2014/main" id="{ED7C2926-DCEC-4950-A648-C747B046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1007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A"/>
                </a:solidFill>
              </a:defRPr>
            </a:pPr>
            <a:r>
              <a:rPr sz="1275" b="0">
                <a:solidFill>
                  <a:srgbClr val="53606A"/>
                </a:solidFill>
              </a:rPr>
              <a:t>2 controls at full context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0dc5638754c71"/>
          <a:stretch xmlns:a="http://schemas.openxmlformats.org/drawingml/2006/main"/>
        </p:blipFill>
        <p:spPr>
          <a:xfrm xmlns:a="http://schemas.openxmlformats.org/drawingml/2006/main">
            <a:off x="5143500" y="1623435"/>
            <a:ext cx="6591300" cy="3382530"/>
          </a:xfrm>
          <a:prstGeom xmlns:a="http://schemas.openxmlformats.org/drawingml/2006/main" prst="rect">
            <a:avLst/>
          </a:prstGeom>
        </p:spPr>
      </p:pic>
      <p:sp>
        <p:nvSpPr>
          <p:cNvPr id="21" name="method-caption">
            <a:extLst xmlns:a="http://schemas.openxmlformats.org/drawingml/2006/main">
              <a:ext uri="{FF2B5EF4-FFF2-40B4-BE49-F238E27FC236}">
                <a16:creationId xmlns:a16="http://schemas.microsoft.com/office/drawing/2014/main" id="{F6021877-4DD6-4F67-8041-3AE74201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72100"/>
            <a:ext cx="659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418"/>
                </a:solidFill>
              </a:defRPr>
            </a:pPr>
            <a:r>
              <a:rPr sz="1350" b="1">
                <a:solidFill>
                  <a:srgbClr val="101418"/>
                </a:solidFill>
              </a:rPr>
              <a:t>Each prompt opened in a new Temporary Chat; all 90 outputs parsed as JSON.</a:t>
            </a:r>
          </a:p>
        </p:txBody>
      </p:sp>
      <p:sp>
        <p:nvSpPr>
          <p:cNvPr id="22" name="method-model">
            <a:extLst xmlns:a="http://schemas.openxmlformats.org/drawingml/2006/main">
              <a:ext uri="{FF2B5EF4-FFF2-40B4-BE49-F238E27FC236}">
                <a16:creationId xmlns:a16="http://schemas.microsoft.com/office/drawing/2014/main" id="{4D21BC91-43D2-49A8-9F13-F649CF32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886450"/>
            <a:ext cx="659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Interface label: ChatGPT Plus, High mode; exact model ID not exposed.</a:t>
            </a:r>
          </a:p>
        </p:txBody>
      </p:sp>
    </p:spTree>
    <p:extLst>
      <p:ext uri="{BB962C8B-B14F-4D97-AF65-F5344CB8AC3E}">
        <p14:creationId xmlns:p14="http://schemas.microsoft.com/office/powerpoint/2010/main" val="932456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42F9D224-909C-419C-8329-C8E6E72E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2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More linked context drove leakage from 0.53 to 0.97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733FE866-905D-466D-A611-145C4A19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04</a:t>
            </a:r>
          </a:p>
        </p:txBody>
      </p:sp>
      <p:sp>
        <p:nvSpPr>
          <p:cNvPr id="3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F778091E-D4DE-4DC0-A323-17E1AF81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7000875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cb929dd95f4e06"/>
          </a:graphicData>
        </a:graphic>
      </p:graphicFrame>
      <p:sp>
        <p:nvSpPr>
          <p:cNvPr id="5" name="result-callout">
            <a:extLst xmlns:a="http://schemas.openxmlformats.org/drawingml/2006/main">
              <a:ext uri="{FF2B5EF4-FFF2-40B4-BE49-F238E27FC236}">
                <a16:creationId xmlns:a16="http://schemas.microsoft.com/office/drawing/2014/main" id="{A350EEC6-5EF2-47C9-8830-91B732AC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3238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sult-value">
            <a:extLst xmlns:a="http://schemas.openxmlformats.org/drawingml/2006/main">
              <a:ext uri="{FF2B5EF4-FFF2-40B4-BE49-F238E27FC236}">
                <a16:creationId xmlns:a16="http://schemas.microsoft.com/office/drawing/2014/main" id="{4C005CB8-96EB-4B55-A2E0-2587B683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+0.44</a:t>
            </a:r>
          </a:p>
        </p:txBody>
      </p:sp>
      <p:sp>
        <p:nvSpPr>
          <p:cNvPr id="7" name="result-copy">
            <a:extLst xmlns:a="http://schemas.openxmlformats.org/drawingml/2006/main">
              <a:ext uri="{FF2B5EF4-FFF2-40B4-BE49-F238E27FC236}">
                <a16:creationId xmlns:a16="http://schemas.microsoft.com/office/drawing/2014/main" id="{C039E732-1E60-4B31-A347-11FC782B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A"/>
                </a:solidFill>
              </a:defRPr>
            </a:pPr>
            <a:r>
              <a:rPr sz="1350" b="0">
                <a:solidFill>
                  <a:srgbClr val="53606A"/>
                </a:solidFill>
              </a:rPr>
              <a:t>leakage increase from one fragment to all fifteen</a:t>
            </a:r>
          </a:p>
        </p:txBody>
      </p:sp>
      <p:sp>
        <p:nvSpPr>
          <p:cNvPr id="8" name="confidence-callout">
            <a:extLst xmlns:a="http://schemas.openxmlformats.org/drawingml/2006/main">
              <a:ext uri="{FF2B5EF4-FFF2-40B4-BE49-F238E27FC236}">
                <a16:creationId xmlns:a16="http://schemas.microsoft.com/office/drawing/2014/main" id="{F5DBA340-0288-4C2C-AD03-29CB9840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71875"/>
            <a:ext cx="3238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fidence-value">
            <a:extLst xmlns:a="http://schemas.openxmlformats.org/drawingml/2006/main">
              <a:ext uri="{FF2B5EF4-FFF2-40B4-BE49-F238E27FC236}">
                <a16:creationId xmlns:a16="http://schemas.microsoft.com/office/drawing/2014/main" id="{E4B792B1-4112-4A6F-98F5-65279B52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418"/>
                </a:solidFill>
              </a:defRPr>
            </a:pPr>
            <a:r>
              <a:rPr sz="2625" b="1">
                <a:solidFill>
                  <a:srgbClr val="101418"/>
                </a:solidFill>
              </a:rPr>
              <a:t>0.55 → 0.83</a:t>
            </a:r>
          </a:p>
        </p:txBody>
      </p:sp>
      <p:sp>
        <p:nvSpPr>
          <p:cNvPr id="10" name="confidence-copy">
            <a:extLst xmlns:a="http://schemas.openxmlformats.org/drawingml/2006/main">
              <a:ext uri="{FF2B5EF4-FFF2-40B4-BE49-F238E27FC236}">
                <a16:creationId xmlns:a16="http://schemas.microsoft.com/office/drawing/2014/main" id="{6E60D7DD-5290-48F6-9D5E-32AA16AE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24375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A"/>
                </a:solidFill>
              </a:defRPr>
            </a:pPr>
            <a:r>
              <a:rPr sz="1350" b="0">
                <a:solidFill>
                  <a:srgbClr val="53606A"/>
                </a:solidFill>
              </a:rPr>
              <a:t>mean model-reported confidence also increased</a:t>
            </a:r>
          </a:p>
        </p:txBody>
      </p:sp>
      <p:sp>
        <p:nvSpPr>
          <p:cNvPr id="11" name="result-footnote">
            <a:extLst xmlns:a="http://schemas.openxmlformats.org/drawingml/2006/main">
              <a:ext uri="{FF2B5EF4-FFF2-40B4-BE49-F238E27FC236}">
                <a16:creationId xmlns:a16="http://schemas.microsoft.com/office/drawing/2014/main" id="{72EB367E-3492-491D-BD07-C378B0B9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Baseline only; n = 15 responses per condition. Descriptive scores, not population estimates.</a:t>
            </a:r>
          </a:p>
        </p:txBody>
      </p:sp>
    </p:spTree>
    <p:extLst>
      <p:ext uri="{BB962C8B-B14F-4D97-AF65-F5344CB8AC3E}">
        <p14:creationId xmlns:p14="http://schemas.microsoft.com/office/powerpoint/2010/main" val="3893820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62FEF91-CDA4-4B24-95DB-E15BA948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2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Simple mitigations barely changed disclosure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2EACF183-77E6-4493-B38B-47F46EAE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05</a:t>
            </a:r>
          </a:p>
        </p:txBody>
      </p:sp>
      <p:sp>
        <p:nvSpPr>
          <p:cNvPr id="3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DAD6299D-831F-41EB-AD62-637DE0ED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71500" y="1571625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095b428b3f43f1"/>
          </a:graphicData>
        </a:graphic>
      </p:graphicFrame>
      <p:sp>
        <p:nvSpPr>
          <p:cNvPr id="5" name="finding-0-panel">
            <a:extLst xmlns:a="http://schemas.openxmlformats.org/drawingml/2006/main">
              <a:ext uri="{FF2B5EF4-FFF2-40B4-BE49-F238E27FC236}">
                <a16:creationId xmlns:a16="http://schemas.microsoft.com/office/drawing/2014/main" id="{3036D74E-83E1-4C86-90F5-AB74AC8E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0200"/>
            <a:ext cx="3714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nding-0-title">
            <a:extLst xmlns:a="http://schemas.openxmlformats.org/drawingml/2006/main">
              <a:ext uri="{FF2B5EF4-FFF2-40B4-BE49-F238E27FC236}">
                <a16:creationId xmlns:a16="http://schemas.microsoft.com/office/drawing/2014/main" id="{AC7BD2E1-D6CA-4572-ADB5-AFC3A7DC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71650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8"/>
                </a:solidFill>
              </a:defRPr>
            </a:pPr>
            <a:r>
              <a:rPr sz="1425" b="1">
                <a:solidFill>
                  <a:srgbClr val="101418"/>
                </a:solidFill>
              </a:rPr>
              <a:t>Exact-detail redaction</a:t>
            </a:r>
          </a:p>
        </p:txBody>
      </p:sp>
      <p:sp>
        <p:nvSpPr>
          <p:cNvPr id="7" name="finding-0-body">
            <a:extLst xmlns:a="http://schemas.openxmlformats.org/drawingml/2006/main">
              <a:ext uri="{FF2B5EF4-FFF2-40B4-BE49-F238E27FC236}">
                <a16:creationId xmlns:a16="http://schemas.microsoft.com/office/drawing/2014/main" id="{24ED501D-A4A3-4B02-A38F-3C1D5994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33600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Only a 0.04 reduction; broader routines still linked.</a:t>
            </a:r>
          </a:p>
        </p:txBody>
      </p:sp>
      <p:sp>
        <p:nvSpPr>
          <p:cNvPr id="8" name="finding-1-panel">
            <a:extLst xmlns:a="http://schemas.openxmlformats.org/drawingml/2006/main">
              <a:ext uri="{FF2B5EF4-FFF2-40B4-BE49-F238E27FC236}">
                <a16:creationId xmlns:a16="http://schemas.microsoft.com/office/drawing/2014/main" id="{C5AADD6B-BC69-4432-A0C5-ED0690F2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81325"/>
            <a:ext cx="3714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nding-1-title">
            <a:extLst xmlns:a="http://schemas.openxmlformats.org/drawingml/2006/main">
              <a:ext uri="{FF2B5EF4-FFF2-40B4-BE49-F238E27FC236}">
                <a16:creationId xmlns:a16="http://schemas.microsoft.com/office/drawing/2014/main" id="{6821ACA9-6B0B-4C3E-8FA4-6A1DD9E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5277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8"/>
                </a:solidFill>
              </a:defRPr>
            </a:pPr>
            <a:r>
              <a:rPr sz="1425" b="1">
                <a:solidFill>
                  <a:srgbClr val="101418"/>
                </a:solidFill>
              </a:rPr>
              <a:t>Sensitive-inference warning</a:t>
            </a:r>
          </a:p>
        </p:txBody>
      </p:sp>
      <p:sp>
        <p:nvSpPr>
          <p:cNvPr id="10" name="finding-1-body">
            <a:extLst xmlns:a="http://schemas.openxmlformats.org/drawingml/2006/main">
              <a:ext uri="{FF2B5EF4-FFF2-40B4-BE49-F238E27FC236}">
                <a16:creationId xmlns:a16="http://schemas.microsoft.com/office/drawing/2014/main" id="{1A28145A-ED2F-46B0-9392-466AA169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1472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No score reduction; confidence fell by about 0.03.</a:t>
            </a:r>
          </a:p>
        </p:txBody>
      </p:sp>
      <p:sp>
        <p:nvSpPr>
          <p:cNvPr id="11" name="finding-2-panel">
            <a:extLst xmlns:a="http://schemas.openxmlformats.org/drawingml/2006/main">
              <a:ext uri="{FF2B5EF4-FFF2-40B4-BE49-F238E27FC236}">
                <a16:creationId xmlns:a16="http://schemas.microsoft.com/office/drawing/2014/main" id="{73AAABA6-1317-4220-822D-B2D5F399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62450"/>
            <a:ext cx="3714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inding-2-title">
            <a:extLst xmlns:a="http://schemas.openxmlformats.org/drawingml/2006/main">
              <a:ext uri="{FF2B5EF4-FFF2-40B4-BE49-F238E27FC236}">
                <a16:creationId xmlns:a16="http://schemas.microsoft.com/office/drawing/2014/main" id="{5071A023-EF31-4FF1-AC50-CAFE65BF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33900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8"/>
                </a:solidFill>
              </a:defRPr>
            </a:pPr>
            <a:r>
              <a:rPr sz="1425" b="1">
                <a:solidFill>
                  <a:srgbClr val="101418"/>
                </a:solidFill>
              </a:rPr>
              <a:t>Weak compartments</a:t>
            </a:r>
          </a:p>
        </p:txBody>
      </p:sp>
      <p:sp>
        <p:nvSpPr>
          <p:cNvPr id="13" name="finding-2-body">
            <a:extLst xmlns:a="http://schemas.openxmlformats.org/drawingml/2006/main">
              <a:ext uri="{FF2B5EF4-FFF2-40B4-BE49-F238E27FC236}">
                <a16:creationId xmlns:a16="http://schemas.microsoft.com/office/drawing/2014/main" id="{AA4A84D4-0C86-4507-B9E9-17071F9C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A"/>
                </a:solidFill>
              </a:defRPr>
            </a:pPr>
            <a:r>
              <a:rPr sz="1200" b="0">
                <a:solidFill>
                  <a:srgbClr val="53606A"/>
                </a:solidFill>
              </a:rPr>
              <a:t>Five correlated fragments still leaked 0.93.</a:t>
            </a:r>
          </a:p>
        </p:txBody>
      </p:sp>
      <p:sp>
        <p:nvSpPr>
          <p:cNvPr id="14" name="mitigation-footnote">
            <a:extLst xmlns:a="http://schemas.openxmlformats.org/drawingml/2006/main">
              <a:ext uri="{FF2B5EF4-FFF2-40B4-BE49-F238E27FC236}">
                <a16:creationId xmlns:a16="http://schemas.microsoft.com/office/drawing/2014/main" id="{EABE7327-9B85-445C-93CE-07EAFE6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Full aggregated context only; n = 15 per treatment.</a:t>
            </a:r>
          </a:p>
        </p:txBody>
      </p:sp>
    </p:spTree>
    <p:extLst>
      <p:ext uri="{BB962C8B-B14F-4D97-AF65-F5344CB8AC3E}">
        <p14:creationId xmlns:p14="http://schemas.microsoft.com/office/powerpoint/2010/main" val="1965476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030B389C-D8DD-4004-BAC8-96426B4B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62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8"/>
                </a:solidFill>
              </a:defRPr>
            </a:pPr>
            <a:r>
              <a:rPr sz="2850" b="1">
                <a:solidFill>
                  <a:srgbClr val="101418"/>
                </a:solidFill>
              </a:rPr>
              <a:t>Protect privacy before context reaches the model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DAE11279-709E-422D-9E46-5866071A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06A"/>
                </a:solidFill>
              </a:defRPr>
            </a:pPr>
            <a:r>
              <a:rPr sz="1050" b="0">
                <a:solidFill>
                  <a:srgbClr val="53606A"/>
                </a:solidFill>
              </a:rPr>
              <a:t>06</a:t>
            </a:r>
          </a:p>
        </p:txBody>
      </p:sp>
      <p:sp>
        <p:nvSpPr>
          <p:cNvPr id="3" name="slide-6-rule">
            <a:extLst xmlns:a="http://schemas.openxmlformats.org/drawingml/2006/main">
              <a:ext uri="{FF2B5EF4-FFF2-40B4-BE49-F238E27FC236}">
                <a16:creationId xmlns:a16="http://schemas.microsoft.com/office/drawing/2014/main" id="{5F35181C-F848-4754-BF54-8818553A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-0-number">
            <a:extLst xmlns:a="http://schemas.openxmlformats.org/drawingml/2006/main">
              <a:ext uri="{FF2B5EF4-FFF2-40B4-BE49-F238E27FC236}">
                <a16:creationId xmlns:a16="http://schemas.microsoft.com/office/drawing/2014/main" id="{4A32B3E1-0C15-4F5B-AD4D-DC807BF6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5" name="rec-0-title">
            <a:extLst xmlns:a="http://schemas.openxmlformats.org/drawingml/2006/main">
              <a:ext uri="{FF2B5EF4-FFF2-40B4-BE49-F238E27FC236}">
                <a16:creationId xmlns:a16="http://schemas.microsoft.com/office/drawing/2014/main" id="{F4BAA5AF-0F5C-4274-BA1B-2F513526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Minimise</a:t>
            </a:r>
          </a:p>
        </p:txBody>
      </p:sp>
      <p:sp>
        <p:nvSpPr>
          <p:cNvPr id="6" name="rec-0-rule">
            <a:extLst xmlns:a="http://schemas.openxmlformats.org/drawingml/2006/main">
              <a:ext uri="{FF2B5EF4-FFF2-40B4-BE49-F238E27FC236}">
                <a16:creationId xmlns:a16="http://schemas.microsoft.com/office/drawing/2014/main" id="{E2471815-CEB4-4E95-AA19-A96CC85F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8120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-0-body">
            <a:extLst xmlns:a="http://schemas.openxmlformats.org/drawingml/2006/main">
              <a:ext uri="{FF2B5EF4-FFF2-40B4-BE49-F238E27FC236}">
                <a16:creationId xmlns:a16="http://schemas.microsoft.com/office/drawing/2014/main" id="{E41226BD-95C3-4E86-A604-696C0F2A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A"/>
                </a:solidFill>
              </a:defRPr>
            </a:pPr>
            <a:r>
              <a:rPr sz="1350" b="0">
                <a:solidFill>
                  <a:srgbClr val="53606A"/>
                </a:solidFill>
              </a:rPr>
              <a:t>Retrieve only what the current task needs.</a:t>
            </a:r>
          </a:p>
        </p:txBody>
      </p:sp>
      <p:sp>
        <p:nvSpPr>
          <p:cNvPr id="8" name="rec-1-number">
            <a:extLst xmlns:a="http://schemas.openxmlformats.org/drawingml/2006/main">
              <a:ext uri="{FF2B5EF4-FFF2-40B4-BE49-F238E27FC236}">
                <a16:creationId xmlns:a16="http://schemas.microsoft.com/office/drawing/2014/main" id="{50871C28-8152-4BFA-B298-DA1133BD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rec-1-title">
            <a:extLst xmlns:a="http://schemas.openxmlformats.org/drawingml/2006/main">
              <a:ext uri="{FF2B5EF4-FFF2-40B4-BE49-F238E27FC236}">
                <a16:creationId xmlns:a16="http://schemas.microsoft.com/office/drawing/2014/main" id="{30549C3D-E451-472F-8201-2A0C1AFA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0495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Isolate by purpose</a:t>
            </a:r>
          </a:p>
        </p:txBody>
      </p:sp>
      <p:sp>
        <p:nvSpPr>
          <p:cNvPr id="10" name="rec-1-rule">
            <a:extLst xmlns:a="http://schemas.openxmlformats.org/drawingml/2006/main">
              <a:ext uri="{FF2B5EF4-FFF2-40B4-BE49-F238E27FC236}">
                <a16:creationId xmlns:a16="http://schemas.microsoft.com/office/drawing/2014/main" id="{CEB154E4-5980-40E6-BF8F-E9C33554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-1-body">
            <a:extLst xmlns:a="http://schemas.openxmlformats.org/drawingml/2006/main">
              <a:ext uri="{FF2B5EF4-FFF2-40B4-BE49-F238E27FC236}">
                <a16:creationId xmlns:a16="http://schemas.microsoft.com/office/drawing/2014/main" id="{CF1C6859-96F2-48A5-B3A1-2FB16D4D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A"/>
                </a:solidFill>
              </a:defRPr>
            </a:pPr>
            <a:r>
              <a:rPr sz="1350" b="0">
                <a:solidFill>
                  <a:srgbClr val="53606A"/>
                </a:solidFill>
              </a:rPr>
              <a:t>Test whether each compartment still encodes sensitive attributes.</a:t>
            </a:r>
          </a:p>
        </p:txBody>
      </p:sp>
      <p:sp>
        <p:nvSpPr>
          <p:cNvPr id="12" name="rec-2-number">
            <a:extLst xmlns:a="http://schemas.openxmlformats.org/drawingml/2006/main">
              <a:ext uri="{FF2B5EF4-FFF2-40B4-BE49-F238E27FC236}">
                <a16:creationId xmlns:a16="http://schemas.microsoft.com/office/drawing/2014/main" id="{04094D94-1761-4961-B0BD-EEF9F046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3" name="rec-2-title">
            <a:extLst xmlns:a="http://schemas.openxmlformats.org/drawingml/2006/main">
              <a:ext uri="{FF2B5EF4-FFF2-40B4-BE49-F238E27FC236}">
                <a16:creationId xmlns:a16="http://schemas.microsoft.com/office/drawing/2014/main" id="{AC6C0C3B-F1E2-46A3-ADEF-71D14D3C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Red-team combinations</a:t>
            </a:r>
          </a:p>
        </p:txBody>
      </p:sp>
      <p:sp>
        <p:nvSpPr>
          <p:cNvPr id="14" name="rec-2-rule">
            <a:extLst xmlns:a="http://schemas.openxmlformats.org/drawingml/2006/main">
              <a:ext uri="{FF2B5EF4-FFF2-40B4-BE49-F238E27FC236}">
                <a16:creationId xmlns:a16="http://schemas.microsoft.com/office/drawing/2014/main" id="{09F653DC-6C28-4282-800A-C11934CD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-2-body">
            <a:extLst xmlns:a="http://schemas.openxmlformats.org/drawingml/2006/main">
              <a:ext uri="{FF2B5EF4-FFF2-40B4-BE49-F238E27FC236}">
                <a16:creationId xmlns:a16="http://schemas.microsoft.com/office/drawing/2014/main" id="{66DFD064-C985-41C0-AB78-96B56D0E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9575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A"/>
                </a:solidFill>
              </a:defRPr>
            </a:pPr>
            <a:r>
              <a:rPr sz="1350" b="0">
                <a:solidFill>
                  <a:srgbClr val="53606A"/>
                </a:solidFill>
              </a:rPr>
              <a:t>Evaluate linkability and attribute inference, not only direct secrets.</a:t>
            </a:r>
          </a:p>
        </p:txBody>
      </p:sp>
      <p:sp>
        <p:nvSpPr>
          <p:cNvPr id="16" name="rec-3-number">
            <a:extLst xmlns:a="http://schemas.openxmlformats.org/drawingml/2006/main">
              <a:ext uri="{FF2B5EF4-FFF2-40B4-BE49-F238E27FC236}">
                <a16:creationId xmlns:a16="http://schemas.microsoft.com/office/drawing/2014/main" id="{5316B282-9E28-4EFD-A149-312A92E0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71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7" name="rec-3-title">
            <a:extLst xmlns:a="http://schemas.openxmlformats.org/drawingml/2006/main">
              <a:ext uri="{FF2B5EF4-FFF2-40B4-BE49-F238E27FC236}">
                <a16:creationId xmlns:a16="http://schemas.microsoft.com/office/drawing/2014/main" id="{41F2CA98-B435-4AB8-9A36-7D9689EE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52825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Treat warnings as secondary</a:t>
            </a:r>
          </a:p>
        </p:txBody>
      </p:sp>
      <p:sp>
        <p:nvSpPr>
          <p:cNvPr id="18" name="rec-3-rule">
            <a:extLst xmlns:a="http://schemas.openxmlformats.org/drawingml/2006/main">
              <a:ext uri="{FF2B5EF4-FFF2-40B4-BE49-F238E27FC236}">
                <a16:creationId xmlns:a16="http://schemas.microsoft.com/office/drawing/2014/main" id="{87762FC5-1FA4-43E4-9160-CE810982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29075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-3-body">
            <a:extLst xmlns:a="http://schemas.openxmlformats.org/drawingml/2006/main">
              <a:ext uri="{FF2B5EF4-FFF2-40B4-BE49-F238E27FC236}">
                <a16:creationId xmlns:a16="http://schemas.microsoft.com/office/drawing/2014/main" id="{F261591E-1778-414F-9480-F9FEE041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9575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6A"/>
                </a:solidFill>
              </a:defRPr>
            </a:pPr>
            <a:r>
              <a:rPr sz="1350" b="0">
                <a:solidFill>
                  <a:srgbClr val="53606A"/>
                </a:solidFill>
              </a:rPr>
              <a:t>Enforce boundaries in data flow, then add policy instructions.</a:t>
            </a:r>
          </a:p>
        </p:txBody>
      </p:sp>
      <p:sp>
        <p:nvSpPr>
          <p:cNvPr id="20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A51880BA-5CFB-413B-A110-A4558993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1096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939A9875-EECD-4D27-9829-D90DC8A9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2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Privacy is a property of the combination, not just the individual fragment.</a:t>
            </a:r>
          </a:p>
        </p:txBody>
      </p:sp>
    </p:spTree>
    <p:extLst>
      <p:ext uri="{BB962C8B-B14F-4D97-AF65-F5344CB8AC3E}">
        <p14:creationId xmlns:p14="http://schemas.microsoft.com/office/powerpoint/2010/main" val="355629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2026-07-22T00:15:07.4320000Z</dcterms:created>
  <dcterms:modified xsi:type="dcterms:W3CDTF">2026-07-22T00:15:07.4330000Z</dcterms:modified>
</coreProperties>
</file>