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a268ebce9b2489e" /><Relationship Type="http://schemas.openxmlformats.org/officeDocument/2006/relationships/extended-properties" Target="/docProps/app.xml" Id="R64d37a7e42874ab1" /><Relationship Type="http://schemas.openxmlformats.org/officeDocument/2006/relationships/officeDocument" Target="/ppt/presentation.xml" Id="R5abbf64492ce44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44f002f87e4a43"/>
  </p:sldMasterIdLst>
  <p:notesMasterIdLst>
    <p:notesMasterId xmlns:r="http://schemas.openxmlformats.org/officeDocument/2006/relationships" r:id="Ra2670cb9d0d1452c"/>
  </p:notesMasterIdLst>
  <p:sldIdLst>
    <p:sldId xmlns:r="http://schemas.openxmlformats.org/officeDocument/2006/relationships" id="256" r:id="R1630b086a5b949c0"/>
    <p:sldId xmlns:r="http://schemas.openxmlformats.org/officeDocument/2006/relationships" id="257" r:id="Rb2fb0dad30954e7d"/>
    <p:sldId xmlns:r="http://schemas.openxmlformats.org/officeDocument/2006/relationships" id="258" r:id="R0e15b8ee8db1490a"/>
    <p:sldId xmlns:r="http://schemas.openxmlformats.org/officeDocument/2006/relationships" id="259" r:id="R2711882d940941e4"/>
    <p:sldId xmlns:r="http://schemas.openxmlformats.org/officeDocument/2006/relationships" id="260" r:id="Rdb18836c06f44cf1"/>
    <p:sldId xmlns:r="http://schemas.openxmlformats.org/officeDocument/2006/relationships" id="261" r:id="R0ee8fc30f39a41e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1758f8470141bd" /><Relationship Type="http://schemas.openxmlformats.org/officeDocument/2006/relationships/slideMaster" Target="/ppt/slideMasters/slideMaster1.xml" Id="Rcd44f002f87e4a43" /><Relationship Type="http://schemas.openxmlformats.org/officeDocument/2006/relationships/notesMaster" Target="/ppt/notesMasters/notesMaster1.xml" Id="Ra2670cb9d0d1452c" /><Relationship Type="http://schemas.openxmlformats.org/officeDocument/2006/relationships/presProps" Target="/ppt/presProps.xml" Id="Rd51006e73bf74d96" /><Relationship Type="http://schemas.openxmlformats.org/officeDocument/2006/relationships/tableStyles" Target="/ppt/tableStyles.xml" Id="Rd1407c19a9244142" /><Relationship Type="http://schemas.openxmlformats.org/officeDocument/2006/relationships/slide" Target="/ppt/slides/slide1.xml" Id="R1630b086a5b949c0" /><Relationship Type="http://schemas.openxmlformats.org/officeDocument/2006/relationships/slide" Target="/ppt/slides/slide2.xml" Id="Rb2fb0dad30954e7d" /><Relationship Type="http://schemas.openxmlformats.org/officeDocument/2006/relationships/slide" Target="/ppt/slides/slide3.xml" Id="R0e15b8ee8db1490a" /><Relationship Type="http://schemas.openxmlformats.org/officeDocument/2006/relationships/slide" Target="/ppt/slides/slide4.xml" Id="R2711882d940941e4" /><Relationship Type="http://schemas.openxmlformats.org/officeDocument/2006/relationships/slide" Target="/ppt/slides/slide5.xml" Id="Rdb18836c06f44cf1" /><Relationship Type="http://schemas.openxmlformats.org/officeDocument/2006/relationships/slide" Target="/ppt/slides/slide6.xml" Id="R0ee8fc30f39a41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513f6d39de48f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b16626b5894c1c" /><Relationship Type="http://schemas.openxmlformats.org/officeDocument/2006/relationships/notesMaster" Target="/ppt/notesMasters/notesMaster1.xml" Id="R3af325c08d4d4a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343f33620d4994" /><Relationship Type="http://schemas.openxmlformats.org/officeDocument/2006/relationships/notesMaster" Target="/ppt/notesMasters/notesMaster1.xml" Id="R45ec941619e84d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787baae6674c8b" /><Relationship Type="http://schemas.openxmlformats.org/officeDocument/2006/relationships/notesMaster" Target="/ppt/notesMasters/notesMaster1.xml" Id="R3e1c1c8e450a40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44114832231415c" /><Relationship Type="http://schemas.openxmlformats.org/officeDocument/2006/relationships/notesMaster" Target="/ppt/notesMasters/notesMaster1.xml" Id="R2655b96ab60148f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e1baf11b614087" /><Relationship Type="http://schemas.openxmlformats.org/officeDocument/2006/relationships/notesMaster" Target="/ppt/notesMasters/notesMaster1.xml" Id="R0599830fc37542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9305983ad0433a" /><Relationship Type="http://schemas.openxmlformats.org/officeDocument/2006/relationships/notesMaster" Target="/ppt/notesMasters/notesMaster1.xml" Id="Re7756d8d71e349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b2fbd12b904ef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050b1bc9be4340" /><Relationship Type="http://schemas.openxmlformats.org/officeDocument/2006/relationships/slideLayout" Target="/ppt/slideLayouts/slideLayout1.xml" Id="R3e8ac31b443b498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8ac31b443b498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304ad3aca64673" /><Relationship Type="http://schemas.openxmlformats.org/officeDocument/2006/relationships/notesSlide" Target="/ppt/notesSlides/notesSlide1.xml" Id="R0f5ebb7cf7c944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3c47068d0642bc" /><Relationship Type="http://schemas.openxmlformats.org/officeDocument/2006/relationships/notesSlide" Target="/ppt/notesSlides/notesSlide2.xml" Id="R6d7a7ef467b24e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3325a2fe94a71" /><Relationship Type="http://schemas.openxmlformats.org/officeDocument/2006/relationships/image" Target="/ppt/media/image.png" Id="Rb8dd998982284f48" /><Relationship Type="http://schemas.openxmlformats.org/officeDocument/2006/relationships/notesSlide" Target="/ppt/notesSlides/notesSlide3.xml" Id="Radca713ade9b41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5e9e0812d4bb8" /><Relationship Type="http://schemas.openxmlformats.org/officeDocument/2006/relationships/chart" Target="/ppt/slides/charts/chart1.xml" Id="Rc80d8ee44d4c4b76" /><Relationship Type="http://schemas.openxmlformats.org/officeDocument/2006/relationships/notesSlide" Target="/ppt/notesSlides/notesSlide4.xml" Id="R7846309d34af47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93e6704c604783" /><Relationship Type="http://schemas.openxmlformats.org/officeDocument/2006/relationships/chart" Target="/ppt/slides/charts/chart2.xml" Id="Ra6f6703d3a16445b" /><Relationship Type="http://schemas.openxmlformats.org/officeDocument/2006/relationships/notesSlide" Target="/ppt/notesSlides/notesSlide5.xml" Id="R526bf2abe2504d2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1fd55dc60845f1" /><Relationship Type="http://schemas.openxmlformats.org/officeDocument/2006/relationships/notesSlide" Target="/ppt/notesSlides/notesSlide6.xml" Id="R7383b0cf93d649c5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Leakage score (%)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No memory</c:v>
              </c:pt>
              <c:pt idx="1">
                <c:v>Limited</c:v>
              </c:pt>
              <c:pt idx="2">
                <c:v>Compartment</c:v>
              </c:pt>
              <c:pt idx="3">
                <c:v>Full aggregate</c:v>
              </c:pt>
            </c:strLit>
          </c:cat>
          <c:val>
            <c:numLit>
              <c:formatCode>General</c:formatCode>
              <c:ptCount val="4"/>
              <c:pt idx="0">
                <c:v>53</c:v>
              </c:pt>
              <c:pt idx="1">
                <c:v>87</c:v>
              </c:pt>
              <c:pt idx="2">
                <c:v>97</c:v>
              </c:pt>
              <c:pt idx="3">
                <c:v>100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20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Leakage score (%)</c:v>
          </c:tx>
          <c:spPr>
            <a:solidFill xmlns:a="http://schemas.openxmlformats.org/drawingml/2006/main">
              <a:srgbClr val="D85B4A"/>
            </a:solidFill>
          </c:spPr>
          <c:cat>
            <c:strLit>
              <c:ptCount val="3"/>
              <c:pt idx="0">
                <c:v>No mitigation</c:v>
              </c:pt>
              <c:pt idx="1">
                <c:v>Generalise details</c:v>
              </c:pt>
              <c:pt idx="2">
                <c:v>Warning prompt</c:v>
              </c:pt>
            </c:strLit>
          </c:cat>
          <c:val>
            <c:numLit>
              <c:formatCode>General</c:formatCode>
              <c:ptCount val="3"/>
              <c:pt idx="0">
                <c:v>100</c:v>
              </c:pt>
              <c:pt idx="1">
                <c:v>97</c:v>
              </c:pt>
              <c:pt idx="2">
                <c:v>97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20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ourse-label-bg">
            <a:extLst xmlns:a="http://schemas.openxmlformats.org/drawingml/2006/main">
              <a:ext uri="{FF2B5EF4-FFF2-40B4-BE49-F238E27FC236}">
                <a16:creationId xmlns:a16="http://schemas.microsoft.com/office/drawing/2014/main" id="{0998282F-3D9F-4981-BD1C-F21EBFFB8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371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A1A59E2C-5468-4076-B166-55B8AA1C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6725"/>
            <a:ext cx="352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418"/>
                </a:solidFill>
              </a:defRPr>
            </a:pPr>
            <a:r>
              <a:rPr sz="1050" b="1">
                <a:solidFill>
                  <a:srgbClr val="101418"/>
                </a:solidFill>
              </a:rPr>
              <a:t>COMP6441  |  CYBERSECURITY INDEPENDENT PROJECT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C79C8387-07BA-4F3A-B427-E1BDBB95E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838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01418"/>
                </a:solidFill>
              </a:defRPr>
            </a:pPr>
            <a:r>
              <a:rPr sz="4350" b="1">
                <a:solidFill>
                  <a:srgbClr val="101418"/>
                </a:solidFill>
              </a:rPr>
              <a:t>When harmless fragments</a:t>
            </a:r>
          </a:p>
          <a:p xmlns:a="http://schemas.openxmlformats.org/drawingml/2006/main">
            <a:pPr algn="l">
              <a:defRPr sz="4350" b="1">
                <a:solidFill>
                  <a:srgbClr val="101418"/>
                </a:solidFill>
              </a:defRPr>
            </a:pPr>
            <a:r>
              <a:rPr sz="4350" b="1">
                <a:solidFill>
                  <a:srgbClr val="101418"/>
                </a:solidFill>
              </a:rPr>
              <a:t>become sensitive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D6D996C5-1747-4958-B71C-4D0E0E9B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38550"/>
            <a:ext cx="704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3606A"/>
                </a:solidFill>
              </a:defRPr>
            </a:pPr>
            <a:r>
              <a:rPr sz="1800" b="0">
                <a:solidFill>
                  <a:srgbClr val="53606A"/>
                </a:solidFill>
              </a:rPr>
              <a:t>Measuring privacy leakage through AI context aggregation</a:t>
            </a:r>
          </a:p>
        </p:txBody>
      </p:sp>
      <p:sp>
        <p:nvSpPr>
          <p:cNvPr id="5" name="fragment-0-panel">
            <a:extLst xmlns:a="http://schemas.openxmlformats.org/drawingml/2006/main">
              <a:ext uri="{FF2B5EF4-FFF2-40B4-BE49-F238E27FC236}">
                <a16:creationId xmlns:a16="http://schemas.microsoft.com/office/drawing/2014/main" id="{B1C72976-2F2F-498F-A136-B67DDC15A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7162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ragment-0">
            <a:extLst xmlns:a="http://schemas.openxmlformats.org/drawingml/2006/main">
              <a:ext uri="{FF2B5EF4-FFF2-40B4-BE49-F238E27FC236}">
                <a16:creationId xmlns:a16="http://schemas.microsoft.com/office/drawing/2014/main" id="{8EE9298A-BA11-4358-ACCE-F5298560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790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418"/>
                </a:solidFill>
              </a:defRPr>
            </a:pPr>
            <a:r>
              <a:rPr sz="1275" b="0">
                <a:solidFill>
                  <a:srgbClr val="101418"/>
                </a:solidFill>
              </a:rPr>
              <a:t>7:42 bus</a:t>
            </a:r>
          </a:p>
        </p:txBody>
      </p:sp>
      <p:sp>
        <p:nvSpPr>
          <p:cNvPr id="7" name="fragment-1-panel">
            <a:extLst xmlns:a="http://schemas.openxmlformats.org/drawingml/2006/main">
              <a:ext uri="{FF2B5EF4-FFF2-40B4-BE49-F238E27FC236}">
                <a16:creationId xmlns:a16="http://schemas.microsoft.com/office/drawing/2014/main" id="{3D9B357C-1C64-4559-B3ED-D33F622AC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57162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fragment-1">
            <a:extLst xmlns:a="http://schemas.openxmlformats.org/drawingml/2006/main">
              <a:ext uri="{FF2B5EF4-FFF2-40B4-BE49-F238E27FC236}">
                <a16:creationId xmlns:a16="http://schemas.microsoft.com/office/drawing/2014/main" id="{52DF482D-BFC8-4AA2-9BA9-944F9EDF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1790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418"/>
                </a:solidFill>
              </a:defRPr>
            </a:pPr>
            <a:r>
              <a:rPr sz="1275" b="0">
                <a:solidFill>
                  <a:srgbClr val="101418"/>
                </a:solidFill>
              </a:rPr>
              <a:t>campus library</a:t>
            </a:r>
          </a:p>
        </p:txBody>
      </p:sp>
      <p:sp>
        <p:nvSpPr>
          <p:cNvPr id="9" name="fragment-2-panel">
            <a:extLst xmlns:a="http://schemas.openxmlformats.org/drawingml/2006/main">
              <a:ext uri="{FF2B5EF4-FFF2-40B4-BE49-F238E27FC236}">
                <a16:creationId xmlns:a16="http://schemas.microsoft.com/office/drawing/2014/main" id="{6FC75875-528B-41B9-98E2-BF152236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71750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fragment-2">
            <a:extLst xmlns:a="http://schemas.openxmlformats.org/drawingml/2006/main">
              <a:ext uri="{FF2B5EF4-FFF2-40B4-BE49-F238E27FC236}">
                <a16:creationId xmlns:a16="http://schemas.microsoft.com/office/drawing/2014/main" id="{7377B57D-8D4E-4700-A901-2479A008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7908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418"/>
                </a:solidFill>
              </a:defRPr>
            </a:pPr>
            <a:r>
              <a:rPr sz="1275" b="0">
                <a:solidFill>
                  <a:srgbClr val="101418"/>
                </a:solidFill>
              </a:rPr>
              <a:t>shared rent</a:t>
            </a:r>
          </a:p>
        </p:txBody>
      </p:sp>
      <p:sp>
        <p:nvSpPr>
          <p:cNvPr id="11" name="fragment-3-panel">
            <a:extLst xmlns:a="http://schemas.openxmlformats.org/drawingml/2006/main">
              <a:ext uri="{FF2B5EF4-FFF2-40B4-BE49-F238E27FC236}">
                <a16:creationId xmlns:a16="http://schemas.microsoft.com/office/drawing/2014/main" id="{62E4530B-6D39-48F9-8510-B5B942F2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571750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ragment-3">
            <a:extLst xmlns:a="http://schemas.openxmlformats.org/drawingml/2006/main">
              <a:ext uri="{FF2B5EF4-FFF2-40B4-BE49-F238E27FC236}">
                <a16:creationId xmlns:a16="http://schemas.microsoft.com/office/drawing/2014/main" id="{C7F7C56C-A21B-4043-A954-EA9902ED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7908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418"/>
                </a:solidFill>
              </a:defRPr>
            </a:pPr>
            <a:r>
              <a:rPr sz="1275" b="0">
                <a:solidFill>
                  <a:srgbClr val="101418"/>
                </a:solidFill>
              </a:rPr>
              <a:t>evening class</a:t>
            </a:r>
          </a:p>
        </p:txBody>
      </p:sp>
      <p:sp>
        <p:nvSpPr>
          <p:cNvPr id="13" name="fragment-4-panel">
            <a:extLst xmlns:a="http://schemas.openxmlformats.org/drawingml/2006/main">
              <a:ext uri="{FF2B5EF4-FFF2-40B4-BE49-F238E27FC236}">
                <a16:creationId xmlns:a16="http://schemas.microsoft.com/office/drawing/2014/main" id="{0F8DF065-4458-4A9B-BE49-EA02CD42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7187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fragment-4">
            <a:extLst xmlns:a="http://schemas.openxmlformats.org/drawingml/2006/main">
              <a:ext uri="{FF2B5EF4-FFF2-40B4-BE49-F238E27FC236}">
                <a16:creationId xmlns:a16="http://schemas.microsoft.com/office/drawing/2014/main" id="{965DE796-CC7F-4CC4-A00C-81FF883E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7909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418"/>
                </a:solidFill>
              </a:defRPr>
            </a:pPr>
            <a:r>
              <a:rPr sz="1275" b="0">
                <a:solidFill>
                  <a:srgbClr val="101418"/>
                </a:solidFill>
              </a:rPr>
              <a:t>ocean pool</a:t>
            </a:r>
          </a:p>
        </p:txBody>
      </p:sp>
      <p:sp>
        <p:nvSpPr>
          <p:cNvPr id="15" name="fragment-5-panel">
            <a:extLst xmlns:a="http://schemas.openxmlformats.org/drawingml/2006/main">
              <a:ext uri="{FF2B5EF4-FFF2-40B4-BE49-F238E27FC236}">
                <a16:creationId xmlns:a16="http://schemas.microsoft.com/office/drawing/2014/main" id="{D4CB6FB4-A70B-4FCC-8E8B-0F59CADC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57187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fragment-5">
            <a:extLst xmlns:a="http://schemas.openxmlformats.org/drawingml/2006/main">
              <a:ext uri="{FF2B5EF4-FFF2-40B4-BE49-F238E27FC236}">
                <a16:creationId xmlns:a16="http://schemas.microsoft.com/office/drawing/2014/main" id="{1D9F1D6F-2013-4845-A9A3-4D793BDA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7909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418"/>
                </a:solidFill>
              </a:defRPr>
            </a:pPr>
            <a:r>
              <a:rPr sz="1275" b="1">
                <a:solidFill>
                  <a:srgbClr val="101418"/>
                </a:solidFill>
              </a:rPr>
              <a:t>retail shift</a:t>
            </a:r>
          </a:p>
        </p:txBody>
      </p:sp>
      <p:sp>
        <p:nvSpPr>
          <p:cNvPr id="17" name="cover-meta">
            <a:extLst xmlns:a="http://schemas.openxmlformats.org/drawingml/2006/main">
              <a:ext uri="{FF2B5EF4-FFF2-40B4-BE49-F238E27FC236}">
                <a16:creationId xmlns:a16="http://schemas.microsoft.com/office/drawing/2014/main" id="{95C54597-D430-4D7A-AA17-113031CB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0198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Xiaolong Ma  |  z5557885  |  90 controlled prompts</a:t>
            </a:r>
          </a:p>
        </p:txBody>
      </p:sp>
      <p:sp>
        <p:nvSpPr>
          <p:cNvPr id="18" name="cover-takeaway">
            <a:extLst xmlns:a="http://schemas.openxmlformats.org/drawingml/2006/main">
              <a:ext uri="{FF2B5EF4-FFF2-40B4-BE49-F238E27FC236}">
                <a16:creationId xmlns:a16="http://schemas.microsoft.com/office/drawing/2014/main" id="{FC186904-42B2-4AF9-AB8C-82DBE0B4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000625"/>
            <a:ext cx="366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The combination reveals more than any single item.</a:t>
            </a:r>
          </a:p>
        </p:txBody>
      </p:sp>
    </p:spTree>
    <p:extLst>
      <p:ext uri="{BB962C8B-B14F-4D97-AF65-F5344CB8AC3E}">
        <p14:creationId xmlns:p14="http://schemas.microsoft.com/office/powerpoint/2010/main" val="12627881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B0AF05F0-BD7C-42FA-A5B6-814CFA41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620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418"/>
                </a:solidFill>
              </a:defRPr>
            </a:pPr>
            <a:r>
              <a:rPr sz="2850" b="1">
                <a:solidFill>
                  <a:srgbClr val="101418"/>
                </a:solidFill>
              </a:rPr>
              <a:t>Aggregation creates a new disclosure surface</a:t>
            </a:r>
          </a:p>
        </p:txBody>
      </p:sp>
      <p:sp>
        <p:nvSpPr>
          <p:cNvPr id="2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8F083CE7-7B64-43CE-BFCD-AEC1D3F2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28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02</a:t>
            </a:r>
          </a:p>
        </p:txBody>
      </p:sp>
      <p:sp>
        <p:nvSpPr>
          <p:cNvPr id="3" name="slide-2-rule">
            <a:extLst xmlns:a="http://schemas.openxmlformats.org/drawingml/2006/main">
              <a:ext uri="{FF2B5EF4-FFF2-40B4-BE49-F238E27FC236}">
                <a16:creationId xmlns:a16="http://schemas.microsoft.com/office/drawing/2014/main" id="{938998CB-F944-4433-AD44-2F5DAEE5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858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low-arrow-0">
            <a:extLst xmlns:a="http://schemas.openxmlformats.org/drawingml/2006/main">
              <a:ext uri="{FF2B5EF4-FFF2-40B4-BE49-F238E27FC236}">
                <a16:creationId xmlns:a16="http://schemas.microsoft.com/office/drawing/2014/main" id="{C682374E-1BB4-408C-81AE-973CA951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790825"/>
            <a:ext cx="6858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D3D7E16D-157E-4436-8D43-4146910C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790825"/>
            <a:ext cx="6858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81000411-5828-47E7-86CC-0EA8F5DC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790825"/>
            <a:ext cx="6858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low-0-panel">
            <a:extLst xmlns:a="http://schemas.openxmlformats.org/drawingml/2006/main">
              <a:ext uri="{FF2B5EF4-FFF2-40B4-BE49-F238E27FC236}">
                <a16:creationId xmlns:a16="http://schemas.microsoft.com/office/drawing/2014/main" id="{0E02A22A-5B7A-409D-98E3-8924CCE4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952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flow-0-number">
            <a:extLst xmlns:a="http://schemas.openxmlformats.org/drawingml/2006/main">
              <a:ext uri="{FF2B5EF4-FFF2-40B4-BE49-F238E27FC236}">
                <a16:creationId xmlns:a16="http://schemas.microsoft.com/office/drawing/2014/main" id="{EE82D1B0-8093-4EBA-9152-2478D31CF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9" name="flow-0-heading">
            <a:extLst xmlns:a="http://schemas.openxmlformats.org/drawingml/2006/main">
              <a:ext uri="{FF2B5EF4-FFF2-40B4-BE49-F238E27FC236}">
                <a16:creationId xmlns:a16="http://schemas.microsoft.com/office/drawing/2014/main" id="{845D9422-A138-4683-A8F5-E267C16A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1600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418"/>
                </a:solidFill>
              </a:defRPr>
            </a:pPr>
            <a:r>
              <a:rPr sz="1575" b="1">
                <a:solidFill>
                  <a:srgbClr val="101418"/>
                </a:solidFill>
              </a:rPr>
              <a:t>Ordinary fragments</a:t>
            </a:r>
          </a:p>
        </p:txBody>
      </p:sp>
      <p:sp>
        <p:nvSpPr>
          <p:cNvPr id="10" name="flow-0-body">
            <a:extLst xmlns:a="http://schemas.openxmlformats.org/drawingml/2006/main">
              <a:ext uri="{FF2B5EF4-FFF2-40B4-BE49-F238E27FC236}">
                <a16:creationId xmlns:a16="http://schemas.microsoft.com/office/drawing/2014/main" id="{BBCE934C-B459-48F4-A126-81C162A9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Transport, study, shopping, work</a:t>
            </a:r>
          </a:p>
        </p:txBody>
      </p:sp>
      <p:sp>
        <p:nvSpPr>
          <p:cNvPr id="11" name="flow-1-panel">
            <a:extLst xmlns:a="http://schemas.openxmlformats.org/drawingml/2006/main">
              <a:ext uri="{FF2B5EF4-FFF2-40B4-BE49-F238E27FC236}">
                <a16:creationId xmlns:a16="http://schemas.microsoft.com/office/drawing/2014/main" id="{50EC1FF3-72DE-4870-A251-C74A39FD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95500"/>
            <a:ext cx="1952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low-1-number">
            <a:extLst xmlns:a="http://schemas.openxmlformats.org/drawingml/2006/main">
              <a:ext uri="{FF2B5EF4-FFF2-40B4-BE49-F238E27FC236}">
                <a16:creationId xmlns:a16="http://schemas.microsoft.com/office/drawing/2014/main" id="{AF630C60-920C-48BC-A767-5010EF25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669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3" name="flow-1-heading">
            <a:extLst xmlns:a="http://schemas.openxmlformats.org/drawingml/2006/main">
              <a:ext uri="{FF2B5EF4-FFF2-40B4-BE49-F238E27FC236}">
                <a16:creationId xmlns:a16="http://schemas.microsoft.com/office/drawing/2014/main" id="{9375BBB5-0407-434B-86BE-9EE077DC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67000"/>
            <a:ext cx="1600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418"/>
                </a:solidFill>
              </a:defRPr>
            </a:pPr>
            <a:r>
              <a:rPr sz="1575" b="1">
                <a:solidFill>
                  <a:srgbClr val="101418"/>
                </a:solidFill>
              </a:rPr>
              <a:t>Context policy</a:t>
            </a:r>
          </a:p>
        </p:txBody>
      </p:sp>
      <p:sp>
        <p:nvSpPr>
          <p:cNvPr id="14" name="flow-1-body">
            <a:extLst xmlns:a="http://schemas.openxmlformats.org/drawingml/2006/main">
              <a:ext uri="{FF2B5EF4-FFF2-40B4-BE49-F238E27FC236}">
                <a16:creationId xmlns:a16="http://schemas.microsoft.com/office/drawing/2014/main" id="{DEFA4C15-1B7D-4A42-BAC3-6913AA4D7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3850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Which memories cross the task boundary?</a:t>
            </a:r>
          </a:p>
        </p:txBody>
      </p:sp>
      <p:sp>
        <p:nvSpPr>
          <p:cNvPr id="15" name="flow-2-panel">
            <a:extLst xmlns:a="http://schemas.openxmlformats.org/drawingml/2006/main">
              <a:ext uri="{FF2B5EF4-FFF2-40B4-BE49-F238E27FC236}">
                <a16:creationId xmlns:a16="http://schemas.microsoft.com/office/drawing/2014/main" id="{827080B9-B620-45C1-8326-D4CBEAD8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95500"/>
            <a:ext cx="1952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flow-2-number">
            <a:extLst xmlns:a="http://schemas.openxmlformats.org/drawingml/2006/main">
              <a:ext uri="{FF2B5EF4-FFF2-40B4-BE49-F238E27FC236}">
                <a16:creationId xmlns:a16="http://schemas.microsoft.com/office/drawing/2014/main" id="{F63F80D1-6A09-4366-AA79-275171171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669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7" name="flow-2-heading">
            <a:extLst xmlns:a="http://schemas.openxmlformats.org/drawingml/2006/main">
              <a:ext uri="{FF2B5EF4-FFF2-40B4-BE49-F238E27FC236}">
                <a16:creationId xmlns:a16="http://schemas.microsoft.com/office/drawing/2014/main" id="{C36055DE-60D9-4D99-951D-A0529193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67000"/>
            <a:ext cx="1600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418"/>
                </a:solidFill>
              </a:defRPr>
            </a:pPr>
            <a:r>
              <a:rPr sz="1575" b="1">
                <a:solidFill>
                  <a:srgbClr val="101418"/>
                </a:solidFill>
              </a:rPr>
              <a:t>Model inference</a:t>
            </a:r>
          </a:p>
        </p:txBody>
      </p:sp>
      <p:sp>
        <p:nvSpPr>
          <p:cNvPr id="18" name="flow-2-body">
            <a:extLst xmlns:a="http://schemas.openxmlformats.org/drawingml/2006/main">
              <a:ext uri="{FF2B5EF4-FFF2-40B4-BE49-F238E27FC236}">
                <a16:creationId xmlns:a16="http://schemas.microsoft.com/office/drawing/2014/main" id="{65D3666A-9DEC-4D57-8E1A-EF533250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3850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Correlates time, place and purpose</a:t>
            </a:r>
          </a:p>
        </p:txBody>
      </p:sp>
      <p:sp>
        <p:nvSpPr>
          <p:cNvPr id="19" name="flow-3-panel">
            <a:extLst xmlns:a="http://schemas.openxmlformats.org/drawingml/2006/main">
              <a:ext uri="{FF2B5EF4-FFF2-40B4-BE49-F238E27FC236}">
                <a16:creationId xmlns:a16="http://schemas.microsoft.com/office/drawing/2014/main" id="{98188184-9135-4024-A6D3-37D1FA737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95500"/>
            <a:ext cx="1952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low-3-number">
            <a:extLst xmlns:a="http://schemas.openxmlformats.org/drawingml/2006/main">
              <a:ext uri="{FF2B5EF4-FFF2-40B4-BE49-F238E27FC236}">
                <a16:creationId xmlns:a16="http://schemas.microsoft.com/office/drawing/2014/main" id="{FDF7CCDA-84D3-41E0-91E8-B5D1DBFF7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669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21" name="flow-3-heading">
            <a:extLst xmlns:a="http://schemas.openxmlformats.org/drawingml/2006/main">
              <a:ext uri="{FF2B5EF4-FFF2-40B4-BE49-F238E27FC236}">
                <a16:creationId xmlns:a16="http://schemas.microsoft.com/office/drawing/2014/main" id="{54C2F881-50D0-4015-8C5C-95660B94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1600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418"/>
                </a:solidFill>
              </a:defRPr>
            </a:pPr>
            <a:r>
              <a:rPr sz="1575" b="1">
                <a:solidFill>
                  <a:srgbClr val="101418"/>
                </a:solidFill>
              </a:rPr>
              <a:t>Sensitive profile</a:t>
            </a:r>
          </a:p>
        </p:txBody>
      </p:sp>
      <p:sp>
        <p:nvSpPr>
          <p:cNvPr id="22" name="flow-3-body">
            <a:extLst xmlns:a="http://schemas.openxmlformats.org/drawingml/2006/main">
              <a:ext uri="{FF2B5EF4-FFF2-40B4-BE49-F238E27FC236}">
                <a16:creationId xmlns:a16="http://schemas.microsoft.com/office/drawing/2014/main" id="{35E42925-D849-49CD-9A35-CB0BCACA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3850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Location, schedule, occupation, finance</a:t>
            </a:r>
          </a:p>
        </p:txBody>
      </p:sp>
      <p:sp>
        <p:nvSpPr>
          <p:cNvPr id="23" name="linddun">
            <a:extLst xmlns:a="http://schemas.openxmlformats.org/drawingml/2006/main">
              <a:ext uri="{FF2B5EF4-FFF2-40B4-BE49-F238E27FC236}">
                <a16:creationId xmlns:a16="http://schemas.microsoft.com/office/drawing/2014/main" id="{BC51B504-EF72-4D23-BE28-17A5DB94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243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418"/>
                </a:solidFill>
              </a:defRPr>
            </a:pPr>
            <a:r>
              <a:rPr sz="1650" b="1">
                <a:solidFill>
                  <a:srgbClr val="101418"/>
                </a:solidFill>
              </a:rPr>
              <a:t>LINDDUN focus: linkability enables inference and disclosure</a:t>
            </a:r>
          </a:p>
        </p:txBody>
      </p:sp>
      <p:sp>
        <p:nvSpPr>
          <p:cNvPr id="24" name="scope">
            <a:extLst xmlns:a="http://schemas.openxmlformats.org/drawingml/2006/main">
              <a:ext uri="{FF2B5EF4-FFF2-40B4-BE49-F238E27FC236}">
                <a16:creationId xmlns:a16="http://schemas.microsoft.com/office/drawing/2014/main" id="{55FCDA03-EDAB-44F9-9FD7-D7819DAD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95875"/>
            <a:ext cx="1019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Synthetic profiles only. No real-person identification, secret extraction or cross-user data access.</a:t>
            </a:r>
          </a:p>
        </p:txBody>
      </p:sp>
    </p:spTree>
    <p:extLst>
      <p:ext uri="{BB962C8B-B14F-4D97-AF65-F5344CB8AC3E}">
        <p14:creationId xmlns:p14="http://schemas.microsoft.com/office/powerpoint/2010/main" val="10279261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5627870B-1F52-4A02-AEBE-28D812B9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620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418"/>
                </a:solidFill>
              </a:defRPr>
            </a:pPr>
            <a:r>
              <a:rPr sz="2850" b="1">
                <a:solidFill>
                  <a:srgbClr val="101418"/>
                </a:solidFill>
              </a:rPr>
              <a:t>Ninety isolated trials tested context and controls</a:t>
            </a:r>
          </a:p>
        </p:txBody>
      </p:sp>
      <p:sp>
        <p:nvSpPr>
          <p:cNvPr id="2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70280BE6-FBA2-43ED-B4D4-586716966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28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03</a:t>
            </a:r>
          </a:p>
        </p:txBody>
      </p:sp>
      <p:sp>
        <p:nvSpPr>
          <p:cNvPr id="3" name="slide-3-rule">
            <a:extLst xmlns:a="http://schemas.openxmlformats.org/drawingml/2006/main">
              <a:ext uri="{FF2B5EF4-FFF2-40B4-BE49-F238E27FC236}">
                <a16:creationId xmlns:a16="http://schemas.microsoft.com/office/drawing/2014/main" id="{1E535789-48E6-4221-9BF8-E2BC57C2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858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files-panel">
            <a:extLst xmlns:a="http://schemas.openxmlformats.org/drawingml/2006/main">
              <a:ext uri="{FF2B5EF4-FFF2-40B4-BE49-F238E27FC236}">
                <a16:creationId xmlns:a16="http://schemas.microsoft.com/office/drawing/2014/main" id="{5C25F1F3-74FC-4DA3-9202-CC64D9F4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9526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rofiles-accent">
            <a:extLst xmlns:a="http://schemas.openxmlformats.org/drawingml/2006/main">
              <a:ext uri="{FF2B5EF4-FFF2-40B4-BE49-F238E27FC236}">
                <a16:creationId xmlns:a16="http://schemas.microsoft.com/office/drawing/2014/main" id="{822FA2B8-6331-4B66-AEA8-CD867142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952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profiles-value">
            <a:extLst xmlns:a="http://schemas.openxmlformats.org/drawingml/2006/main">
              <a:ext uri="{FF2B5EF4-FFF2-40B4-BE49-F238E27FC236}">
                <a16:creationId xmlns:a16="http://schemas.microsoft.com/office/drawing/2014/main" id="{C8095881-11D7-461F-A3A0-0C2918C7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71650"/>
            <a:ext cx="15335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418"/>
                </a:solidFill>
              </a:defRPr>
            </a:pPr>
            <a:r>
              <a:rPr sz="3450" b="1">
                <a:solidFill>
                  <a:srgbClr val="101418"/>
                </a:solidFill>
              </a:rPr>
              <a:t>3</a:t>
            </a:r>
          </a:p>
        </p:txBody>
      </p:sp>
      <p:sp>
        <p:nvSpPr>
          <p:cNvPr id="7" name="profiles-label">
            <a:extLst xmlns:a="http://schemas.openxmlformats.org/drawingml/2006/main">
              <a:ext uri="{FF2B5EF4-FFF2-40B4-BE49-F238E27FC236}">
                <a16:creationId xmlns:a16="http://schemas.microsoft.com/office/drawing/2014/main" id="{893C55D4-0E89-47FA-8601-B766B6F2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1533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06A"/>
                </a:solidFill>
              </a:defRPr>
            </a:pPr>
            <a:r>
              <a:rPr sz="1275" b="0">
                <a:solidFill>
                  <a:srgbClr val="53606A"/>
                </a:solidFill>
              </a:rPr>
              <a:t>synthetic profiles</a:t>
            </a:r>
          </a:p>
        </p:txBody>
      </p:sp>
      <p:sp>
        <p:nvSpPr>
          <p:cNvPr id="8" name="prompts-panel">
            <a:extLst xmlns:a="http://schemas.openxmlformats.org/drawingml/2006/main">
              <a:ext uri="{FF2B5EF4-FFF2-40B4-BE49-F238E27FC236}">
                <a16:creationId xmlns:a16="http://schemas.microsoft.com/office/drawing/2014/main" id="{50B63F52-B29D-45BE-B738-80583C51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466850"/>
            <a:ext cx="19526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rompts-accent">
            <a:extLst xmlns:a="http://schemas.openxmlformats.org/drawingml/2006/main">
              <a:ext uri="{FF2B5EF4-FFF2-40B4-BE49-F238E27FC236}">
                <a16:creationId xmlns:a16="http://schemas.microsoft.com/office/drawing/2014/main" id="{972F4BD6-9710-414A-927D-3A89FBEC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466850"/>
            <a:ext cx="1952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rompts-value">
            <a:extLst xmlns:a="http://schemas.openxmlformats.org/drawingml/2006/main">
              <a:ext uri="{FF2B5EF4-FFF2-40B4-BE49-F238E27FC236}">
                <a16:creationId xmlns:a16="http://schemas.microsoft.com/office/drawing/2014/main" id="{6EEFC379-C4B4-456A-9FE4-D7BD1815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1771650"/>
            <a:ext cx="15335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418"/>
                </a:solidFill>
              </a:defRPr>
            </a:pPr>
            <a:r>
              <a:rPr sz="3450" b="1">
                <a:solidFill>
                  <a:srgbClr val="101418"/>
                </a:solidFill>
              </a:rPr>
              <a:t>90</a:t>
            </a:r>
          </a:p>
        </p:txBody>
      </p:sp>
      <p:sp>
        <p:nvSpPr>
          <p:cNvPr id="11" name="prompts-label">
            <a:extLst xmlns:a="http://schemas.openxmlformats.org/drawingml/2006/main">
              <a:ext uri="{FF2B5EF4-FFF2-40B4-BE49-F238E27FC236}">
                <a16:creationId xmlns:a16="http://schemas.microsoft.com/office/drawing/2014/main" id="{C2A23177-8F59-455F-B01A-26843B8C8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514600"/>
            <a:ext cx="1533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06A"/>
                </a:solidFill>
              </a:defRPr>
            </a:pPr>
            <a:r>
              <a:rPr sz="1275" b="0">
                <a:solidFill>
                  <a:srgbClr val="53606A"/>
                </a:solidFill>
              </a:rPr>
              <a:t>first responses preserved</a:t>
            </a:r>
          </a:p>
        </p:txBody>
      </p:sp>
      <p:sp>
        <p:nvSpPr>
          <p:cNvPr id="12" name="baseline-panel">
            <a:extLst xmlns:a="http://schemas.openxmlformats.org/drawingml/2006/main">
              <a:ext uri="{FF2B5EF4-FFF2-40B4-BE49-F238E27FC236}">
                <a16:creationId xmlns:a16="http://schemas.microsoft.com/office/drawing/2014/main" id="{431FFB67-CD86-44CA-8691-E71C6C45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2325"/>
            <a:ext cx="19526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aseline-accent">
            <a:extLst xmlns:a="http://schemas.openxmlformats.org/drawingml/2006/main">
              <a:ext uri="{FF2B5EF4-FFF2-40B4-BE49-F238E27FC236}">
                <a16:creationId xmlns:a16="http://schemas.microsoft.com/office/drawing/2014/main" id="{7B50C53B-0E18-40AD-8945-8974F463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2325"/>
            <a:ext cx="1952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baseline-value">
            <a:extLst xmlns:a="http://schemas.openxmlformats.org/drawingml/2006/main">
              <a:ext uri="{FF2B5EF4-FFF2-40B4-BE49-F238E27FC236}">
                <a16:creationId xmlns:a16="http://schemas.microsoft.com/office/drawing/2014/main" id="{79231F91-ACDD-4F93-A80E-99F6D545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67125"/>
            <a:ext cx="15335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418"/>
                </a:solidFill>
              </a:defRPr>
            </a:pPr>
            <a:r>
              <a:rPr sz="3450" b="1">
                <a:solidFill>
                  <a:srgbClr val="101418"/>
                </a:solidFill>
              </a:rPr>
              <a:t>60</a:t>
            </a:r>
          </a:p>
        </p:txBody>
      </p:sp>
      <p:sp>
        <p:nvSpPr>
          <p:cNvPr id="15" name="baseline-label">
            <a:extLst xmlns:a="http://schemas.openxmlformats.org/drawingml/2006/main">
              <a:ext uri="{FF2B5EF4-FFF2-40B4-BE49-F238E27FC236}">
                <a16:creationId xmlns:a16="http://schemas.microsoft.com/office/drawing/2014/main" id="{87568E33-9D98-4AC0-B889-F914B101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0075"/>
            <a:ext cx="1533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06A"/>
                </a:solidFill>
              </a:defRPr>
            </a:pPr>
            <a:r>
              <a:rPr sz="1275" b="0">
                <a:solidFill>
                  <a:srgbClr val="53606A"/>
                </a:solidFill>
              </a:rPr>
              <a:t>4 contexts x 5 questions</a:t>
            </a:r>
          </a:p>
        </p:txBody>
      </p:sp>
      <p:sp>
        <p:nvSpPr>
          <p:cNvPr id="16" name="mitigation-panel">
            <a:extLst xmlns:a="http://schemas.openxmlformats.org/drawingml/2006/main">
              <a:ext uri="{FF2B5EF4-FFF2-40B4-BE49-F238E27FC236}">
                <a16:creationId xmlns:a16="http://schemas.microsoft.com/office/drawing/2014/main" id="{9B6B5BDB-0594-4299-ABE3-EF929684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362325"/>
            <a:ext cx="19526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itigation-accent">
            <a:extLst xmlns:a="http://schemas.openxmlformats.org/drawingml/2006/main">
              <a:ext uri="{FF2B5EF4-FFF2-40B4-BE49-F238E27FC236}">
                <a16:creationId xmlns:a16="http://schemas.microsoft.com/office/drawing/2014/main" id="{D3905794-E55D-4F36-8B9F-6C1EAB65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362325"/>
            <a:ext cx="1952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mitigation-value">
            <a:extLst xmlns:a="http://schemas.openxmlformats.org/drawingml/2006/main">
              <a:ext uri="{FF2B5EF4-FFF2-40B4-BE49-F238E27FC236}">
                <a16:creationId xmlns:a16="http://schemas.microsoft.com/office/drawing/2014/main" id="{89A64AA1-9B19-4F9C-9E95-4C4BBC97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667125"/>
            <a:ext cx="15335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418"/>
                </a:solidFill>
              </a:defRPr>
            </a:pPr>
            <a:r>
              <a:rPr sz="3450" b="1">
                <a:solidFill>
                  <a:srgbClr val="101418"/>
                </a:solidFill>
              </a:rPr>
              <a:t>30</a:t>
            </a:r>
          </a:p>
        </p:txBody>
      </p:sp>
      <p:sp>
        <p:nvSpPr>
          <p:cNvPr id="19" name="mitigation-label">
            <a:extLst xmlns:a="http://schemas.openxmlformats.org/drawingml/2006/main">
              <a:ext uri="{FF2B5EF4-FFF2-40B4-BE49-F238E27FC236}">
                <a16:creationId xmlns:a16="http://schemas.microsoft.com/office/drawing/2014/main" id="{2CCFD007-2A4B-447F-9CDF-6130B7CC8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410075"/>
            <a:ext cx="1533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06A"/>
                </a:solidFill>
              </a:defRPr>
            </a:pPr>
            <a:r>
              <a:rPr sz="1275" b="0">
                <a:solidFill>
                  <a:srgbClr val="53606A"/>
                </a:solidFill>
              </a:rPr>
              <a:t>2 controls at full context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dd998982284f48"/>
          <a:stretch xmlns:a="http://schemas.openxmlformats.org/drawingml/2006/main"/>
        </p:blipFill>
        <p:spPr>
          <a:xfrm xmlns:a="http://schemas.openxmlformats.org/drawingml/2006/main">
            <a:off x="5429011" y="1466850"/>
            <a:ext cx="6020278" cy="3695700"/>
          </a:xfrm>
          <a:prstGeom xmlns:a="http://schemas.openxmlformats.org/drawingml/2006/main" prst="rect">
            <a:avLst/>
          </a:prstGeom>
        </p:spPr>
      </p:pic>
      <p:sp>
        <p:nvSpPr>
          <p:cNvPr id="21" name="method-caption">
            <a:extLst xmlns:a="http://schemas.openxmlformats.org/drawingml/2006/main">
              <a:ext uri="{FF2B5EF4-FFF2-40B4-BE49-F238E27FC236}">
                <a16:creationId xmlns:a16="http://schemas.microsoft.com/office/drawing/2014/main" id="{DE668A24-01F8-4CC3-8D07-99847EEBF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372100"/>
            <a:ext cx="659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418"/>
                </a:solidFill>
              </a:defRPr>
            </a:pPr>
            <a:r>
              <a:rPr sz="1350" b="1">
                <a:solidFill>
                  <a:srgbClr val="101418"/>
                </a:solidFill>
              </a:rPr>
              <a:t>Each prompt opened in a new Temporary Chat; all 90 outputs parsed as JSON.</a:t>
            </a:r>
          </a:p>
        </p:txBody>
      </p:sp>
      <p:sp>
        <p:nvSpPr>
          <p:cNvPr id="22" name="method-model">
            <a:extLst xmlns:a="http://schemas.openxmlformats.org/drawingml/2006/main">
              <a:ext uri="{FF2B5EF4-FFF2-40B4-BE49-F238E27FC236}">
                <a16:creationId xmlns:a16="http://schemas.microsoft.com/office/drawing/2014/main" id="{EEDF736A-8647-4E09-AE11-9A2AA7C7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886450"/>
            <a:ext cx="6591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Interface label: ChatGPT Plus, High mode; exact model ID not exposed.</a:t>
            </a:r>
          </a:p>
        </p:txBody>
      </p:sp>
    </p:spTree>
    <p:extLst>
      <p:ext uri="{BB962C8B-B14F-4D97-AF65-F5344CB8AC3E}">
        <p14:creationId xmlns:p14="http://schemas.microsoft.com/office/powerpoint/2010/main" val="899839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0D91D267-6A9C-49B5-A03D-70707E16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620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418"/>
                </a:solidFill>
              </a:defRPr>
            </a:pPr>
            <a:r>
              <a:rPr sz="2850" b="1">
                <a:solidFill>
                  <a:srgbClr val="101418"/>
                </a:solidFill>
              </a:rPr>
              <a:t>More linked context drove leakage from 0.53 to 1.00</a:t>
            </a:r>
          </a:p>
        </p:txBody>
      </p:sp>
      <p:sp>
        <p:nvSpPr>
          <p:cNvPr id="2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CB5B0A85-BB33-4760-994A-10CCCCB23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28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04</a:t>
            </a:r>
          </a:p>
        </p:txBody>
      </p:sp>
      <p:sp>
        <p:nvSpPr>
          <p:cNvPr id="3" name="slide-4-rule">
            <a:extLst xmlns:a="http://schemas.openxmlformats.org/drawingml/2006/main">
              <a:ext uri="{FF2B5EF4-FFF2-40B4-BE49-F238E27FC236}">
                <a16:creationId xmlns:a16="http://schemas.microsoft.com/office/drawing/2014/main" id="{8D13F827-0E0B-4B6D-A382-621778977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858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571500" y="1524000"/>
          <a:ext xmlns:a="http://schemas.openxmlformats.org/drawingml/2006/main" cx="7000875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0d8ee44d4c4b76"/>
          </a:graphicData>
        </a:graphic>
      </p:graphicFrame>
      <p:sp>
        <p:nvSpPr>
          <p:cNvPr id="5" name="result-callout">
            <a:extLst xmlns:a="http://schemas.openxmlformats.org/drawingml/2006/main">
              <a:ext uri="{FF2B5EF4-FFF2-40B4-BE49-F238E27FC236}">
                <a16:creationId xmlns:a16="http://schemas.microsoft.com/office/drawing/2014/main" id="{85104056-4DB1-4CF4-9E53-068AC375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619250"/>
            <a:ext cx="32385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result-value">
            <a:extLst xmlns:a="http://schemas.openxmlformats.org/drawingml/2006/main">
              <a:ext uri="{FF2B5EF4-FFF2-40B4-BE49-F238E27FC236}">
                <a16:creationId xmlns:a16="http://schemas.microsoft.com/office/drawing/2014/main" id="{47C8CC87-2D05-4DF9-AE3F-982661BFC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3D8DFF"/>
                </a:solidFill>
              </a:defRPr>
            </a:pPr>
            <a:r>
              <a:rPr sz="3300" b="1">
                <a:solidFill>
                  <a:srgbClr val="3D8DFF"/>
                </a:solidFill>
              </a:rPr>
              <a:t>+0.47</a:t>
            </a:r>
          </a:p>
        </p:txBody>
      </p:sp>
      <p:sp>
        <p:nvSpPr>
          <p:cNvPr id="7" name="result-copy">
            <a:extLst xmlns:a="http://schemas.openxmlformats.org/drawingml/2006/main">
              <a:ext uri="{FF2B5EF4-FFF2-40B4-BE49-F238E27FC236}">
                <a16:creationId xmlns:a16="http://schemas.microsoft.com/office/drawing/2014/main" id="{8B733558-4B2A-470E-815E-5F9F0B6E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19375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leakage increase from one fragment to all fifteen</a:t>
            </a:r>
          </a:p>
        </p:txBody>
      </p:sp>
      <p:sp>
        <p:nvSpPr>
          <p:cNvPr id="8" name="confidence-callout">
            <a:extLst xmlns:a="http://schemas.openxmlformats.org/drawingml/2006/main">
              <a:ext uri="{FF2B5EF4-FFF2-40B4-BE49-F238E27FC236}">
                <a16:creationId xmlns:a16="http://schemas.microsoft.com/office/drawing/2014/main" id="{1E586544-6F72-4BA4-A959-742483DF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571875"/>
            <a:ext cx="32385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nfidence-value">
            <a:extLst xmlns:a="http://schemas.openxmlformats.org/drawingml/2006/main">
              <a:ext uri="{FF2B5EF4-FFF2-40B4-BE49-F238E27FC236}">
                <a16:creationId xmlns:a16="http://schemas.microsoft.com/office/drawing/2014/main" id="{75B9E83B-B9D4-49EB-B389-0E6349DF2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57625"/>
            <a:ext cx="2714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01418"/>
                </a:solidFill>
              </a:defRPr>
            </a:pPr>
            <a:r>
              <a:rPr sz="2625" b="1">
                <a:solidFill>
                  <a:srgbClr val="101418"/>
                </a:solidFill>
              </a:rPr>
              <a:t>0.54 → 0.84</a:t>
            </a:r>
          </a:p>
        </p:txBody>
      </p:sp>
      <p:sp>
        <p:nvSpPr>
          <p:cNvPr id="10" name="confidence-copy">
            <a:extLst xmlns:a="http://schemas.openxmlformats.org/drawingml/2006/main">
              <a:ext uri="{FF2B5EF4-FFF2-40B4-BE49-F238E27FC236}">
                <a16:creationId xmlns:a16="http://schemas.microsoft.com/office/drawing/2014/main" id="{D642D41D-4934-485F-8E3C-BC2683BDD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24375"/>
            <a:ext cx="2619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mean model-reported confidence also increased</a:t>
            </a:r>
          </a:p>
        </p:txBody>
      </p:sp>
      <p:sp>
        <p:nvSpPr>
          <p:cNvPr id="11" name="result-footnote">
            <a:extLst xmlns:a="http://schemas.openxmlformats.org/drawingml/2006/main">
              <a:ext uri="{FF2B5EF4-FFF2-40B4-BE49-F238E27FC236}">
                <a16:creationId xmlns:a16="http://schemas.microsoft.com/office/drawing/2014/main" id="{1B84CD65-F2AE-49D7-AAAA-105B991D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Baseline only; n = 15 responses per condition. Descriptive scores, not population estimates.</a:t>
            </a:r>
          </a:p>
        </p:txBody>
      </p:sp>
    </p:spTree>
    <p:extLst>
      <p:ext uri="{BB962C8B-B14F-4D97-AF65-F5344CB8AC3E}">
        <p14:creationId xmlns:p14="http://schemas.microsoft.com/office/powerpoint/2010/main" val="9326566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91B1507B-EC30-4361-A5A0-B1C39C7A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620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418"/>
                </a:solidFill>
              </a:defRPr>
            </a:pPr>
            <a:r>
              <a:rPr sz="2850" b="1">
                <a:solidFill>
                  <a:srgbClr val="101418"/>
                </a:solidFill>
              </a:rPr>
              <a:t>Simple mitigations barely changed disclosure</a:t>
            </a:r>
          </a:p>
        </p:txBody>
      </p:sp>
      <p:sp>
        <p:nvSpPr>
          <p:cNvPr id="2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F2ADD1C6-18CF-46F5-84A0-A6DF7294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28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05</a:t>
            </a:r>
          </a:p>
        </p:txBody>
      </p:sp>
      <p:sp>
        <p:nvSpPr>
          <p:cNvPr id="3" name="slide-5-rule">
            <a:extLst xmlns:a="http://schemas.openxmlformats.org/drawingml/2006/main">
              <a:ext uri="{FF2B5EF4-FFF2-40B4-BE49-F238E27FC236}">
                <a16:creationId xmlns:a16="http://schemas.microsoft.com/office/drawing/2014/main" id="{5F005BEC-CC42-4BA2-8409-365907AB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858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571500" y="1571625"/>
          <a:ext xmlns:a="http://schemas.openxmlformats.org/drawingml/2006/main" cx="65722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6f6703d3a16445b"/>
          </a:graphicData>
        </a:graphic>
      </p:graphicFrame>
      <p:sp>
        <p:nvSpPr>
          <p:cNvPr id="5" name="finding-0-panel">
            <a:extLst xmlns:a="http://schemas.openxmlformats.org/drawingml/2006/main">
              <a:ext uri="{FF2B5EF4-FFF2-40B4-BE49-F238E27FC236}">
                <a16:creationId xmlns:a16="http://schemas.microsoft.com/office/drawing/2014/main" id="{809003F1-E3C1-45E5-B4D8-0718831D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00200"/>
            <a:ext cx="3714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inding-0-title">
            <a:extLst xmlns:a="http://schemas.openxmlformats.org/drawingml/2006/main">
              <a:ext uri="{FF2B5EF4-FFF2-40B4-BE49-F238E27FC236}">
                <a16:creationId xmlns:a16="http://schemas.microsoft.com/office/drawing/2014/main" id="{412DEB43-758F-4F79-A43C-FEB1B8A0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71650"/>
            <a:ext cx="3286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418"/>
                </a:solidFill>
              </a:defRPr>
            </a:pPr>
            <a:r>
              <a:rPr sz="1425" b="1">
                <a:solidFill>
                  <a:srgbClr val="101418"/>
                </a:solidFill>
              </a:rPr>
              <a:t>Exact-detail redaction</a:t>
            </a:r>
          </a:p>
        </p:txBody>
      </p:sp>
      <p:sp>
        <p:nvSpPr>
          <p:cNvPr id="7" name="finding-0-body">
            <a:extLst xmlns:a="http://schemas.openxmlformats.org/drawingml/2006/main">
              <a:ext uri="{FF2B5EF4-FFF2-40B4-BE49-F238E27FC236}">
                <a16:creationId xmlns:a16="http://schemas.microsoft.com/office/drawing/2014/main" id="{76E419B0-6661-44D3-9E8E-66DDD22F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33600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Only a 0.03 reduction; broader routines still linked.</a:t>
            </a:r>
          </a:p>
        </p:txBody>
      </p:sp>
      <p:sp>
        <p:nvSpPr>
          <p:cNvPr id="8" name="finding-1-panel">
            <a:extLst xmlns:a="http://schemas.openxmlformats.org/drawingml/2006/main">
              <a:ext uri="{FF2B5EF4-FFF2-40B4-BE49-F238E27FC236}">
                <a16:creationId xmlns:a16="http://schemas.microsoft.com/office/drawing/2014/main" id="{6EF92666-EDF0-4A10-870A-A7937F56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81325"/>
            <a:ext cx="3714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inding-1-title">
            <a:extLst xmlns:a="http://schemas.openxmlformats.org/drawingml/2006/main">
              <a:ext uri="{FF2B5EF4-FFF2-40B4-BE49-F238E27FC236}">
                <a16:creationId xmlns:a16="http://schemas.microsoft.com/office/drawing/2014/main" id="{923A56AA-74BB-4CE0-89A6-A9B0929C4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52775"/>
            <a:ext cx="3286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418"/>
                </a:solidFill>
              </a:defRPr>
            </a:pPr>
            <a:r>
              <a:rPr sz="1425" b="1">
                <a:solidFill>
                  <a:srgbClr val="101418"/>
                </a:solidFill>
              </a:rPr>
              <a:t>Sensitive-inference warning</a:t>
            </a:r>
          </a:p>
        </p:txBody>
      </p:sp>
      <p:sp>
        <p:nvSpPr>
          <p:cNvPr id="10" name="finding-1-body">
            <a:extLst xmlns:a="http://schemas.openxmlformats.org/drawingml/2006/main">
              <a:ext uri="{FF2B5EF4-FFF2-40B4-BE49-F238E27FC236}">
                <a16:creationId xmlns:a16="http://schemas.microsoft.com/office/drawing/2014/main" id="{633FD807-5ABF-4E1A-ADE1-207EEA19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14725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Only a 0.03 reduction; confidence fell by about 0.05.</a:t>
            </a:r>
          </a:p>
        </p:txBody>
      </p:sp>
      <p:sp>
        <p:nvSpPr>
          <p:cNvPr id="11" name="finding-2-panel">
            <a:extLst xmlns:a="http://schemas.openxmlformats.org/drawingml/2006/main">
              <a:ext uri="{FF2B5EF4-FFF2-40B4-BE49-F238E27FC236}">
                <a16:creationId xmlns:a16="http://schemas.microsoft.com/office/drawing/2014/main" id="{276F15ED-1EA2-4FAE-95C0-63A64AA0B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62450"/>
            <a:ext cx="3714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inding-2-title">
            <a:extLst xmlns:a="http://schemas.openxmlformats.org/drawingml/2006/main">
              <a:ext uri="{FF2B5EF4-FFF2-40B4-BE49-F238E27FC236}">
                <a16:creationId xmlns:a16="http://schemas.microsoft.com/office/drawing/2014/main" id="{B65634D4-09DD-4DFF-BB9E-D2B6D547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533900"/>
            <a:ext cx="3286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1418"/>
                </a:solidFill>
              </a:defRPr>
            </a:pPr>
            <a:r>
              <a:rPr sz="1425" b="1">
                <a:solidFill>
                  <a:srgbClr val="101418"/>
                </a:solidFill>
              </a:rPr>
              <a:t>Weak compartments</a:t>
            </a:r>
          </a:p>
        </p:txBody>
      </p:sp>
      <p:sp>
        <p:nvSpPr>
          <p:cNvPr id="13" name="finding-2-body">
            <a:extLst xmlns:a="http://schemas.openxmlformats.org/drawingml/2006/main">
              <a:ext uri="{FF2B5EF4-FFF2-40B4-BE49-F238E27FC236}">
                <a16:creationId xmlns:a16="http://schemas.microsoft.com/office/drawing/2014/main" id="{F02E16F5-095F-4A24-BEE1-69D655FB4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895850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Five correlated fragments still leaked 0.97.</a:t>
            </a:r>
          </a:p>
        </p:txBody>
      </p:sp>
      <p:sp>
        <p:nvSpPr>
          <p:cNvPr id="14" name="mitigation-footnote">
            <a:extLst xmlns:a="http://schemas.openxmlformats.org/drawingml/2006/main">
              <a:ext uri="{FF2B5EF4-FFF2-40B4-BE49-F238E27FC236}">
                <a16:creationId xmlns:a16="http://schemas.microsoft.com/office/drawing/2014/main" id="{C391295F-4A8B-4957-8777-758038D1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Full aggregated context only; n = 15 per treatment.</a:t>
            </a:r>
          </a:p>
        </p:txBody>
      </p:sp>
    </p:spTree>
    <p:extLst>
      <p:ext uri="{BB962C8B-B14F-4D97-AF65-F5344CB8AC3E}">
        <p14:creationId xmlns:p14="http://schemas.microsoft.com/office/powerpoint/2010/main" val="5178924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204B0FAD-71BE-496F-9F2E-76716A67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620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418"/>
                </a:solidFill>
              </a:defRPr>
            </a:pPr>
            <a:r>
              <a:rPr sz="2850" b="1">
                <a:solidFill>
                  <a:srgbClr val="101418"/>
                </a:solidFill>
              </a:rPr>
              <a:t>Protect privacy before context reaches the model</a:t>
            </a:r>
          </a:p>
        </p:txBody>
      </p:sp>
      <p:sp>
        <p:nvSpPr>
          <p:cNvPr id="2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5F8C80DF-E327-4CA6-AB6A-93AD5A83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28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06</a:t>
            </a:r>
          </a:p>
        </p:txBody>
      </p:sp>
      <p:sp>
        <p:nvSpPr>
          <p:cNvPr id="3" name="slide-6-rule">
            <a:extLst xmlns:a="http://schemas.openxmlformats.org/drawingml/2006/main">
              <a:ext uri="{FF2B5EF4-FFF2-40B4-BE49-F238E27FC236}">
                <a16:creationId xmlns:a16="http://schemas.microsoft.com/office/drawing/2014/main" id="{0D846526-0D67-408A-AB73-094B91869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858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rec-0-number">
            <a:extLst xmlns:a="http://schemas.openxmlformats.org/drawingml/2006/main">
              <a:ext uri="{FF2B5EF4-FFF2-40B4-BE49-F238E27FC236}">
                <a16:creationId xmlns:a16="http://schemas.microsoft.com/office/drawing/2014/main" id="{D53DC4DC-48F7-4FC7-A138-71399366B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5" name="rec-0-title">
            <a:extLst xmlns:a="http://schemas.openxmlformats.org/drawingml/2006/main">
              <a:ext uri="{FF2B5EF4-FFF2-40B4-BE49-F238E27FC236}">
                <a16:creationId xmlns:a16="http://schemas.microsoft.com/office/drawing/2014/main" id="{5B41012D-F130-4002-8345-B4CC081A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04950"/>
            <a:ext cx="4619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418"/>
                </a:solidFill>
              </a:defRPr>
            </a:pPr>
            <a:r>
              <a:rPr sz="1800" b="1">
                <a:solidFill>
                  <a:srgbClr val="101418"/>
                </a:solidFill>
              </a:rPr>
              <a:t>Minimise</a:t>
            </a:r>
          </a:p>
        </p:txBody>
      </p:sp>
      <p:sp>
        <p:nvSpPr>
          <p:cNvPr id="6" name="rec-0-rule">
            <a:extLst xmlns:a="http://schemas.openxmlformats.org/drawingml/2006/main">
              <a:ext uri="{FF2B5EF4-FFF2-40B4-BE49-F238E27FC236}">
                <a16:creationId xmlns:a16="http://schemas.microsoft.com/office/drawing/2014/main" id="{A89378A3-9FD3-40B4-B100-552925FB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81200"/>
            <a:ext cx="4619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c-0-body">
            <a:extLst xmlns:a="http://schemas.openxmlformats.org/drawingml/2006/main">
              <a:ext uri="{FF2B5EF4-FFF2-40B4-BE49-F238E27FC236}">
                <a16:creationId xmlns:a16="http://schemas.microsoft.com/office/drawing/2014/main" id="{2A573C18-4B80-4861-A947-D005C04E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71700"/>
            <a:ext cx="461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Retrieve only what the current task needs.</a:t>
            </a:r>
          </a:p>
        </p:txBody>
      </p:sp>
      <p:sp>
        <p:nvSpPr>
          <p:cNvPr id="8" name="rec-1-number">
            <a:extLst xmlns:a="http://schemas.openxmlformats.org/drawingml/2006/main">
              <a:ext uri="{FF2B5EF4-FFF2-40B4-BE49-F238E27FC236}">
                <a16:creationId xmlns:a16="http://schemas.microsoft.com/office/drawing/2014/main" id="{D43D2C50-6BFC-499F-AD52-E3133DEB7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240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9" name="rec-1-title">
            <a:extLst xmlns:a="http://schemas.openxmlformats.org/drawingml/2006/main">
              <a:ext uri="{FF2B5EF4-FFF2-40B4-BE49-F238E27FC236}">
                <a16:creationId xmlns:a16="http://schemas.microsoft.com/office/drawing/2014/main" id="{46E1EC08-2EAA-4457-82CB-1EA4FC51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04950"/>
            <a:ext cx="4619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418"/>
                </a:solidFill>
              </a:defRPr>
            </a:pPr>
            <a:r>
              <a:rPr sz="1800" b="1">
                <a:solidFill>
                  <a:srgbClr val="101418"/>
                </a:solidFill>
              </a:rPr>
              <a:t>Isolate by purpose</a:t>
            </a:r>
          </a:p>
        </p:txBody>
      </p:sp>
      <p:sp>
        <p:nvSpPr>
          <p:cNvPr id="10" name="rec-1-rule">
            <a:extLst xmlns:a="http://schemas.openxmlformats.org/drawingml/2006/main">
              <a:ext uri="{FF2B5EF4-FFF2-40B4-BE49-F238E27FC236}">
                <a16:creationId xmlns:a16="http://schemas.microsoft.com/office/drawing/2014/main" id="{EA09183E-D30D-478C-B336-BAEA000C9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81200"/>
            <a:ext cx="4619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c-1-body">
            <a:extLst xmlns:a="http://schemas.openxmlformats.org/drawingml/2006/main">
              <a:ext uri="{FF2B5EF4-FFF2-40B4-BE49-F238E27FC236}">
                <a16:creationId xmlns:a16="http://schemas.microsoft.com/office/drawing/2014/main" id="{90FF0E26-6161-46C6-8806-5F4A0EFB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71700"/>
            <a:ext cx="461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Test whether each compartment still encodes sensitive attributes.</a:t>
            </a:r>
          </a:p>
        </p:txBody>
      </p:sp>
      <p:sp>
        <p:nvSpPr>
          <p:cNvPr id="12" name="rec-2-number">
            <a:extLst xmlns:a="http://schemas.openxmlformats.org/drawingml/2006/main">
              <a:ext uri="{FF2B5EF4-FFF2-40B4-BE49-F238E27FC236}">
                <a16:creationId xmlns:a16="http://schemas.microsoft.com/office/drawing/2014/main" id="{BB69E854-F317-432C-809D-72122167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718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3" name="rec-2-title">
            <a:extLst xmlns:a="http://schemas.openxmlformats.org/drawingml/2006/main">
              <a:ext uri="{FF2B5EF4-FFF2-40B4-BE49-F238E27FC236}">
                <a16:creationId xmlns:a16="http://schemas.microsoft.com/office/drawing/2014/main" id="{EE58BF7A-CB3D-4268-9D62-824BB1EE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52825"/>
            <a:ext cx="4619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418"/>
                </a:solidFill>
              </a:defRPr>
            </a:pPr>
            <a:r>
              <a:rPr sz="1800" b="1">
                <a:solidFill>
                  <a:srgbClr val="101418"/>
                </a:solidFill>
              </a:rPr>
              <a:t>Red-team combinations</a:t>
            </a:r>
          </a:p>
        </p:txBody>
      </p:sp>
      <p:sp>
        <p:nvSpPr>
          <p:cNvPr id="14" name="rec-2-rule">
            <a:extLst xmlns:a="http://schemas.openxmlformats.org/drawingml/2006/main">
              <a:ext uri="{FF2B5EF4-FFF2-40B4-BE49-F238E27FC236}">
                <a16:creationId xmlns:a16="http://schemas.microsoft.com/office/drawing/2014/main" id="{C737F3F2-9386-4F4A-B11B-13433ECF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29075"/>
            <a:ext cx="4619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c-2-body">
            <a:extLst xmlns:a="http://schemas.openxmlformats.org/drawingml/2006/main">
              <a:ext uri="{FF2B5EF4-FFF2-40B4-BE49-F238E27FC236}">
                <a16:creationId xmlns:a16="http://schemas.microsoft.com/office/drawing/2014/main" id="{8A0C826F-C1EE-4DD4-AF94-5A104B8A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19575"/>
            <a:ext cx="461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Evaluate linkability and attribute inference, not only direct secrets.</a:t>
            </a:r>
          </a:p>
        </p:txBody>
      </p:sp>
      <p:sp>
        <p:nvSpPr>
          <p:cNvPr id="16" name="rec-3-number">
            <a:extLst xmlns:a="http://schemas.openxmlformats.org/drawingml/2006/main">
              <a:ext uri="{FF2B5EF4-FFF2-40B4-BE49-F238E27FC236}">
                <a16:creationId xmlns:a16="http://schemas.microsoft.com/office/drawing/2014/main" id="{3162B984-871C-493E-A153-117665FE7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5718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17" name="rec-3-title">
            <a:extLst xmlns:a="http://schemas.openxmlformats.org/drawingml/2006/main">
              <a:ext uri="{FF2B5EF4-FFF2-40B4-BE49-F238E27FC236}">
                <a16:creationId xmlns:a16="http://schemas.microsoft.com/office/drawing/2014/main" id="{68B8DB3E-293B-44EC-9FC2-7EA2BA3F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52825"/>
            <a:ext cx="4619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418"/>
                </a:solidFill>
              </a:defRPr>
            </a:pPr>
            <a:r>
              <a:rPr sz="1800" b="1">
                <a:solidFill>
                  <a:srgbClr val="101418"/>
                </a:solidFill>
              </a:rPr>
              <a:t>Treat warnings as secondary</a:t>
            </a:r>
          </a:p>
        </p:txBody>
      </p:sp>
      <p:sp>
        <p:nvSpPr>
          <p:cNvPr id="18" name="rec-3-rule">
            <a:extLst xmlns:a="http://schemas.openxmlformats.org/drawingml/2006/main">
              <a:ext uri="{FF2B5EF4-FFF2-40B4-BE49-F238E27FC236}">
                <a16:creationId xmlns:a16="http://schemas.microsoft.com/office/drawing/2014/main" id="{9A4B7329-1974-4A10-B957-3558FFBB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29075"/>
            <a:ext cx="4619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rec-3-body">
            <a:extLst xmlns:a="http://schemas.openxmlformats.org/drawingml/2006/main">
              <a:ext uri="{FF2B5EF4-FFF2-40B4-BE49-F238E27FC236}">
                <a16:creationId xmlns:a16="http://schemas.microsoft.com/office/drawing/2014/main" id="{0C3CE2C7-BF0A-4B34-8A9F-C3EA6986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19575"/>
            <a:ext cx="461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Enforce boundaries in data flow, then add policy instructions.</a:t>
            </a:r>
          </a:p>
        </p:txBody>
      </p:sp>
      <p:sp>
        <p:nvSpPr>
          <p:cNvPr id="20" name="closing-band">
            <a:extLst xmlns:a="http://schemas.openxmlformats.org/drawingml/2006/main">
              <a:ext uri="{FF2B5EF4-FFF2-40B4-BE49-F238E27FC236}">
                <a16:creationId xmlns:a16="http://schemas.microsoft.com/office/drawing/2014/main" id="{F4354C07-42B0-4FEE-B0D1-6EED9E8D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619750"/>
            <a:ext cx="11096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losing-message">
            <a:extLst xmlns:a="http://schemas.openxmlformats.org/drawingml/2006/main">
              <a:ext uri="{FF2B5EF4-FFF2-40B4-BE49-F238E27FC236}">
                <a16:creationId xmlns:a16="http://schemas.microsoft.com/office/drawing/2014/main" id="{36C15AA7-CBDE-47E9-A2A6-59CB10C7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91200"/>
            <a:ext cx="10620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Privacy is a property of the combination, not just the individual fragment.</a:t>
            </a:r>
          </a:p>
        </p:txBody>
      </p:sp>
    </p:spTree>
    <p:extLst>
      <p:ext uri="{BB962C8B-B14F-4D97-AF65-F5344CB8AC3E}">
        <p14:creationId xmlns:p14="http://schemas.microsoft.com/office/powerpoint/2010/main" val="4095168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2026-07-26T14:15:20.6560000Z</dcterms:created>
  <dcterms:modified xsi:type="dcterms:W3CDTF">2026-07-26T14:15:20.6560000Z</dcterms:modified>
</coreProperties>
</file>