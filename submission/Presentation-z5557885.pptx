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02bfc2c73b4106" /><Relationship Type="http://schemas.openxmlformats.org/officeDocument/2006/relationships/extended-properties" Target="/docProps/app.xml" Id="R72e237d102a84b4a" /><Relationship Type="http://schemas.openxmlformats.org/officeDocument/2006/relationships/officeDocument" Target="/ppt/presentation.xml" Id="R6d7f9f7e731446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db2b0312f949a1"/>
  </p:sldMasterIdLst>
  <p:notesMasterIdLst>
    <p:notesMasterId xmlns:r="http://schemas.openxmlformats.org/officeDocument/2006/relationships" r:id="R602dcdd259d04d36"/>
  </p:notesMasterIdLst>
  <p:sldIdLst>
    <p:sldId xmlns:r="http://schemas.openxmlformats.org/officeDocument/2006/relationships" id="256" r:id="Rfe6d67c68eac42b4"/>
    <p:sldId xmlns:r="http://schemas.openxmlformats.org/officeDocument/2006/relationships" id="257" r:id="Rd145faaaa3904a7c"/>
    <p:sldId xmlns:r="http://schemas.openxmlformats.org/officeDocument/2006/relationships" id="258" r:id="R23a79d3f67104d3d"/>
    <p:sldId xmlns:r="http://schemas.openxmlformats.org/officeDocument/2006/relationships" id="259" r:id="R47c7accd549e4489"/>
    <p:sldId xmlns:r="http://schemas.openxmlformats.org/officeDocument/2006/relationships" id="260" r:id="R8e841c161e384c5f"/>
    <p:sldId xmlns:r="http://schemas.openxmlformats.org/officeDocument/2006/relationships" id="261" r:id="R649b9d84d28a458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c129cddb754e9a" /><Relationship Type="http://schemas.openxmlformats.org/officeDocument/2006/relationships/slideMaster" Target="/ppt/slideMasters/slideMaster1.xml" Id="Re7db2b0312f949a1" /><Relationship Type="http://schemas.openxmlformats.org/officeDocument/2006/relationships/notesMaster" Target="/ppt/notesMasters/notesMaster1.xml" Id="R602dcdd259d04d36" /><Relationship Type="http://schemas.openxmlformats.org/officeDocument/2006/relationships/presProps" Target="/ppt/presProps.xml" Id="R5d92f11b69094236" /><Relationship Type="http://schemas.openxmlformats.org/officeDocument/2006/relationships/tableStyles" Target="/ppt/tableStyles.xml" Id="R01985b9a31bb4a66" /><Relationship Type="http://schemas.openxmlformats.org/officeDocument/2006/relationships/slide" Target="/ppt/slides/slide1.xml" Id="Rfe6d67c68eac42b4" /><Relationship Type="http://schemas.openxmlformats.org/officeDocument/2006/relationships/slide" Target="/ppt/slides/slide2.xml" Id="Rd145faaaa3904a7c" /><Relationship Type="http://schemas.openxmlformats.org/officeDocument/2006/relationships/slide" Target="/ppt/slides/slide3.xml" Id="R23a79d3f67104d3d" /><Relationship Type="http://schemas.openxmlformats.org/officeDocument/2006/relationships/slide" Target="/ppt/slides/slide4.xml" Id="R47c7accd549e4489" /><Relationship Type="http://schemas.openxmlformats.org/officeDocument/2006/relationships/slide" Target="/ppt/slides/slide5.xml" Id="R8e841c161e384c5f" /><Relationship Type="http://schemas.openxmlformats.org/officeDocument/2006/relationships/slide" Target="/ppt/slides/slide6.xml" Id="R649b9d84d28a45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3361e4b41940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3f329fd6594f67" /><Relationship Type="http://schemas.openxmlformats.org/officeDocument/2006/relationships/notesMaster" Target="/ppt/notesMasters/notesMaster1.xml" Id="R61d1d4deb2c641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3d4c7ec7904787" /><Relationship Type="http://schemas.openxmlformats.org/officeDocument/2006/relationships/notesMaster" Target="/ppt/notesMasters/notesMaster1.xml" Id="R07ff896ad5d744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f2cd8006114a9b" /><Relationship Type="http://schemas.openxmlformats.org/officeDocument/2006/relationships/notesMaster" Target="/ppt/notesMasters/notesMaster1.xml" Id="Rbea24d3ae6a940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31211ee65f49c1" /><Relationship Type="http://schemas.openxmlformats.org/officeDocument/2006/relationships/notesMaster" Target="/ppt/notesMasters/notesMaster1.xml" Id="R8e402ec655ad4a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5ce15dd10f4236" /><Relationship Type="http://schemas.openxmlformats.org/officeDocument/2006/relationships/notesMaster" Target="/ppt/notesMasters/notesMaster1.xml" Id="R1b2538cf423848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c3b20e0c214682" /><Relationship Type="http://schemas.openxmlformats.org/officeDocument/2006/relationships/notesMaster" Target="/ppt/notesMasters/notesMaster1.xml" Id="Rd2803c09a16f48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55e0c994f741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214dca775c4221" /><Relationship Type="http://schemas.openxmlformats.org/officeDocument/2006/relationships/slideLayout" Target="/ppt/slideLayouts/slideLayout1.xml" Id="R625f20a3a9dc46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5f20a3a9dc46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32f95e7ca4f17" /><Relationship Type="http://schemas.openxmlformats.org/officeDocument/2006/relationships/notesSlide" Target="/ppt/notesSlides/notesSlide1.xml" Id="R61bf93f6a9cd48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c0aa33bb848b8" /><Relationship Type="http://schemas.openxmlformats.org/officeDocument/2006/relationships/notesSlide" Target="/ppt/notesSlides/notesSlide2.xml" Id="Rc63091211d7943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5c2c6b13d4d95" /><Relationship Type="http://schemas.openxmlformats.org/officeDocument/2006/relationships/image" Target="/ppt/media/image.png" Id="R52727c9038594ff3" /><Relationship Type="http://schemas.openxmlformats.org/officeDocument/2006/relationships/notesSlide" Target="/ppt/notesSlides/notesSlide3.xml" Id="R72e7f9f719bd44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cf9825b6a4343" /><Relationship Type="http://schemas.openxmlformats.org/officeDocument/2006/relationships/chart" Target="/ppt/slides/charts/chart1.xml" Id="Rd39966e1e48f4442" /><Relationship Type="http://schemas.openxmlformats.org/officeDocument/2006/relationships/notesSlide" Target="/ppt/notesSlides/notesSlide4.xml" Id="R5e85039ae39044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8c9b34a2a04cf4" /><Relationship Type="http://schemas.openxmlformats.org/officeDocument/2006/relationships/chart" Target="/ppt/slides/charts/chart2.xml" Id="R91e4d109f0044f35" /><Relationship Type="http://schemas.openxmlformats.org/officeDocument/2006/relationships/notesSlide" Target="/ppt/notesSlides/notesSlide5.xml" Id="R77b5695d5d3b41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0c767e121a4b9c" /><Relationship Type="http://schemas.openxmlformats.org/officeDocument/2006/relationships/notesSlide" Target="/ppt/notesSlides/notesSlide6.xml" Id="R071e8d8ef7f7499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Leakage score (%)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No memory</c:v>
              </c:pt>
              <c:pt idx="1">
                <c:v>Limited</c:v>
              </c:pt>
              <c:pt idx="2">
                <c:v>Compartment</c:v>
              </c:pt>
              <c:pt idx="3">
                <c:v>Full aggregate</c:v>
              </c:pt>
            </c:strLit>
          </c:cat>
          <c:val>
            <c:numLit>
              <c:formatCode>General</c:formatCode>
              <c:ptCount val="4"/>
              <c:pt idx="0">
                <c:v>53</c:v>
              </c:pt>
              <c:pt idx="1">
                <c:v>87</c:v>
              </c:pt>
              <c:pt idx="2">
                <c:v>97</c:v>
              </c:pt>
              <c:pt idx="3">
                <c:v>100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Leakage score (%)</c:v>
          </c:tx>
          <c:spPr>
            <a:solidFill xmlns:a="http://schemas.openxmlformats.org/drawingml/2006/main">
              <a:srgbClr val="D85B4A"/>
            </a:solidFill>
          </c:spPr>
          <c:cat>
            <c:strLit>
              <c:ptCount val="3"/>
              <c:pt idx="0">
                <c:v>No mitigation</c:v>
              </c:pt>
              <c:pt idx="1">
                <c:v>Generalise details</c:v>
              </c:pt>
              <c:pt idx="2">
                <c:v>Warning prompt</c:v>
              </c:pt>
            </c:strLit>
          </c:cat>
          <c:val>
            <c:numLit>
              <c:formatCode>General</c:formatCode>
              <c:ptCount val="3"/>
              <c:pt idx="0">
                <c:v>100</c:v>
              </c:pt>
              <c:pt idx="1">
                <c:v>97</c:v>
              </c:pt>
              <c:pt idx="2">
                <c:v>97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ourse-label-bg">
            <a:extLst xmlns:a="http://schemas.openxmlformats.org/drawingml/2006/main">
              <a:ext uri="{FF2B5EF4-FFF2-40B4-BE49-F238E27FC236}">
                <a16:creationId xmlns:a16="http://schemas.microsoft.com/office/drawing/2014/main" id="{8B7A106D-F18A-46E5-9873-885097DA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371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A5D17EAF-7402-4B46-8F17-797B824F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6725"/>
            <a:ext cx="352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418"/>
                </a:solidFill>
              </a:defRPr>
            </a:pPr>
            <a:r>
              <a:rPr sz="1050" b="1">
                <a:solidFill>
                  <a:srgbClr val="101418"/>
                </a:solidFill>
              </a:rPr>
              <a:t>COMP6441  |  CYBERSECURITY INDEPENDENT PROJECT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7B65AD7-64C5-4488-85DC-9E621686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838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01418"/>
                </a:solidFill>
              </a:defRPr>
            </a:pPr>
            <a:r>
              <a:rPr sz="4350" b="1">
                <a:solidFill>
                  <a:srgbClr val="101418"/>
                </a:solidFill>
              </a:rPr>
              <a:t>When harmless fragments</a:t>
            </a:r>
          </a:p>
          <a:p xmlns:a="http://schemas.openxmlformats.org/drawingml/2006/main">
            <a:pPr algn="l">
              <a:defRPr sz="4350" b="1">
                <a:solidFill>
                  <a:srgbClr val="101418"/>
                </a:solidFill>
              </a:defRPr>
            </a:pPr>
            <a:r>
              <a:rPr sz="4350" b="1">
                <a:solidFill>
                  <a:srgbClr val="101418"/>
                </a:solidFill>
              </a:rPr>
              <a:t>become sensitive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370FE21-C88D-41B4-8011-ADDD0A77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38550"/>
            <a:ext cx="704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3606A"/>
                </a:solidFill>
              </a:defRPr>
            </a:pPr>
            <a:r>
              <a:rPr sz="1800" b="0">
                <a:solidFill>
                  <a:srgbClr val="53606A"/>
                </a:solidFill>
              </a:rPr>
              <a:t>Measuring privacy leakage through AI context aggregation</a:t>
            </a:r>
          </a:p>
        </p:txBody>
      </p:sp>
      <p:sp>
        <p:nvSpPr>
          <p:cNvPr id="5" name="fragment-0-panel">
            <a:extLst xmlns:a="http://schemas.openxmlformats.org/drawingml/2006/main">
              <a:ext uri="{FF2B5EF4-FFF2-40B4-BE49-F238E27FC236}">
                <a16:creationId xmlns:a16="http://schemas.microsoft.com/office/drawing/2014/main" id="{819AFCAB-F617-4D40-A5E4-C0A7719E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716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ragment-0">
            <a:extLst xmlns:a="http://schemas.openxmlformats.org/drawingml/2006/main">
              <a:ext uri="{FF2B5EF4-FFF2-40B4-BE49-F238E27FC236}">
                <a16:creationId xmlns:a16="http://schemas.microsoft.com/office/drawing/2014/main" id="{863561B3-249B-4655-9EE2-CA97ABF4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790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7:42 bus</a:t>
            </a:r>
          </a:p>
        </p:txBody>
      </p:sp>
      <p:sp>
        <p:nvSpPr>
          <p:cNvPr id="7" name="fragment-1-panel">
            <a:extLst xmlns:a="http://schemas.openxmlformats.org/drawingml/2006/main">
              <a:ext uri="{FF2B5EF4-FFF2-40B4-BE49-F238E27FC236}">
                <a16:creationId xmlns:a16="http://schemas.microsoft.com/office/drawing/2014/main" id="{37ECD8DC-CE07-499F-87EA-385C1510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5716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ragment-1">
            <a:extLst xmlns:a="http://schemas.openxmlformats.org/drawingml/2006/main">
              <a:ext uri="{FF2B5EF4-FFF2-40B4-BE49-F238E27FC236}">
                <a16:creationId xmlns:a16="http://schemas.microsoft.com/office/drawing/2014/main" id="{2532385D-DE14-4818-82DE-3CFA74B0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790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campus library</a:t>
            </a:r>
          </a:p>
        </p:txBody>
      </p:sp>
      <p:sp>
        <p:nvSpPr>
          <p:cNvPr id="9" name="fragment-2-panel">
            <a:extLst xmlns:a="http://schemas.openxmlformats.org/drawingml/2006/main">
              <a:ext uri="{FF2B5EF4-FFF2-40B4-BE49-F238E27FC236}">
                <a16:creationId xmlns:a16="http://schemas.microsoft.com/office/drawing/2014/main" id="{06AE824E-BE9F-4448-BFD4-C34631FD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71750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fragment-2">
            <a:extLst xmlns:a="http://schemas.openxmlformats.org/drawingml/2006/main">
              <a:ext uri="{FF2B5EF4-FFF2-40B4-BE49-F238E27FC236}">
                <a16:creationId xmlns:a16="http://schemas.microsoft.com/office/drawing/2014/main" id="{722776A5-5BFA-43CE-95A1-4D8BEDB3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7908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shared rent</a:t>
            </a:r>
          </a:p>
        </p:txBody>
      </p:sp>
      <p:sp>
        <p:nvSpPr>
          <p:cNvPr id="11" name="fragment-3-panel">
            <a:extLst xmlns:a="http://schemas.openxmlformats.org/drawingml/2006/main">
              <a:ext uri="{FF2B5EF4-FFF2-40B4-BE49-F238E27FC236}">
                <a16:creationId xmlns:a16="http://schemas.microsoft.com/office/drawing/2014/main" id="{83E7A255-69E2-4760-8FFE-74B45F59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571750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ragment-3">
            <a:extLst xmlns:a="http://schemas.openxmlformats.org/drawingml/2006/main">
              <a:ext uri="{FF2B5EF4-FFF2-40B4-BE49-F238E27FC236}">
                <a16:creationId xmlns:a16="http://schemas.microsoft.com/office/drawing/2014/main" id="{96E1744B-A81A-41C6-AD2D-58626F1C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7908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evening class</a:t>
            </a:r>
          </a:p>
        </p:txBody>
      </p:sp>
      <p:sp>
        <p:nvSpPr>
          <p:cNvPr id="13" name="fragment-4-panel">
            <a:extLst xmlns:a="http://schemas.openxmlformats.org/drawingml/2006/main">
              <a:ext uri="{FF2B5EF4-FFF2-40B4-BE49-F238E27FC236}">
                <a16:creationId xmlns:a16="http://schemas.microsoft.com/office/drawing/2014/main" id="{BDE1312D-0FE5-4F93-AD45-FFE35D9F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7187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fragment-4">
            <a:extLst xmlns:a="http://schemas.openxmlformats.org/drawingml/2006/main">
              <a:ext uri="{FF2B5EF4-FFF2-40B4-BE49-F238E27FC236}">
                <a16:creationId xmlns:a16="http://schemas.microsoft.com/office/drawing/2014/main" id="{374B247F-A379-4FCD-9E43-2378E5C6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7909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ocean pool</a:t>
            </a:r>
          </a:p>
        </p:txBody>
      </p:sp>
      <p:sp>
        <p:nvSpPr>
          <p:cNvPr id="15" name="fragment-5-panel">
            <a:extLst xmlns:a="http://schemas.openxmlformats.org/drawingml/2006/main">
              <a:ext uri="{FF2B5EF4-FFF2-40B4-BE49-F238E27FC236}">
                <a16:creationId xmlns:a16="http://schemas.microsoft.com/office/drawing/2014/main" id="{FAAC225B-2D08-422E-A7E2-0CF0CA02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57187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ragment-5">
            <a:extLst xmlns:a="http://schemas.openxmlformats.org/drawingml/2006/main">
              <a:ext uri="{FF2B5EF4-FFF2-40B4-BE49-F238E27FC236}">
                <a16:creationId xmlns:a16="http://schemas.microsoft.com/office/drawing/2014/main" id="{5F3E3CAB-0071-47F9-96AC-507916E1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7909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418"/>
                </a:solidFill>
              </a:defRPr>
            </a:pPr>
            <a:r>
              <a:rPr sz="1275" b="1">
                <a:solidFill>
                  <a:srgbClr val="101418"/>
                </a:solidFill>
              </a:rPr>
              <a:t>retail shift</a:t>
            </a:r>
          </a:p>
        </p:txBody>
      </p:sp>
      <p:sp>
        <p:nvSpPr>
          <p:cNvPr id="17" name="cover-meta">
            <a:extLst xmlns:a="http://schemas.openxmlformats.org/drawingml/2006/main">
              <a:ext uri="{FF2B5EF4-FFF2-40B4-BE49-F238E27FC236}">
                <a16:creationId xmlns:a16="http://schemas.microsoft.com/office/drawing/2014/main" id="{A1F5A050-26D1-4DF3-BCDD-AAE4DD0A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198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Xiaolong Ma  |  z5557885  |  90 controlled prompts</a:t>
            </a:r>
          </a:p>
        </p:txBody>
      </p:sp>
      <p:sp>
        <p:nvSpPr>
          <p:cNvPr id="18" name="cover-takeaway">
            <a:extLst xmlns:a="http://schemas.openxmlformats.org/drawingml/2006/main">
              <a:ext uri="{FF2B5EF4-FFF2-40B4-BE49-F238E27FC236}">
                <a16:creationId xmlns:a16="http://schemas.microsoft.com/office/drawing/2014/main" id="{EF6D9F45-0E1A-44C2-8071-52C85C93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00625"/>
            <a:ext cx="366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The combination reveals more than any single item.</a:t>
            </a:r>
          </a:p>
        </p:txBody>
      </p:sp>
    </p:spTree>
    <p:extLst>
      <p:ext uri="{BB962C8B-B14F-4D97-AF65-F5344CB8AC3E}">
        <p14:creationId xmlns:p14="http://schemas.microsoft.com/office/powerpoint/2010/main" val="10831641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C27C25DC-79E0-4214-ABAE-A996F59D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Aggregation creates a new disclosure surface</a:t>
            </a:r>
          </a:p>
        </p:txBody>
      </p:sp>
      <p:sp>
        <p:nvSpPr>
          <p:cNvPr id="2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2F3F3E9B-2726-4529-AB9B-202A26B0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02</a:t>
            </a:r>
          </a:p>
        </p:txBody>
      </p:sp>
      <p:sp>
        <p:nvSpPr>
          <p:cNvPr id="3" name="slide-2-rule">
            <a:extLst xmlns:a="http://schemas.openxmlformats.org/drawingml/2006/main">
              <a:ext uri="{FF2B5EF4-FFF2-40B4-BE49-F238E27FC236}">
                <a16:creationId xmlns:a16="http://schemas.microsoft.com/office/drawing/2014/main" id="{50C15724-0FF7-45B5-95B8-4073481F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low-arrow-0">
            <a:extLst xmlns:a="http://schemas.openxmlformats.org/drawingml/2006/main">
              <a:ext uri="{FF2B5EF4-FFF2-40B4-BE49-F238E27FC236}">
                <a16:creationId xmlns:a16="http://schemas.microsoft.com/office/drawing/2014/main" id="{DC4FC518-55B1-4534-844A-2324A6F9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790825"/>
            <a:ext cx="685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B1358B6A-B73E-4EED-881A-8E2A2CA5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790825"/>
            <a:ext cx="685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35E783A4-DD10-463C-BF54-433F2AC2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90825"/>
            <a:ext cx="685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low-0-panel">
            <a:extLst xmlns:a="http://schemas.openxmlformats.org/drawingml/2006/main">
              <a:ext uri="{FF2B5EF4-FFF2-40B4-BE49-F238E27FC236}">
                <a16:creationId xmlns:a16="http://schemas.microsoft.com/office/drawing/2014/main" id="{10E6F4CD-283F-4E90-9768-51042B01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low-0-number">
            <a:extLst xmlns:a="http://schemas.openxmlformats.org/drawingml/2006/main">
              <a:ext uri="{FF2B5EF4-FFF2-40B4-BE49-F238E27FC236}">
                <a16:creationId xmlns:a16="http://schemas.microsoft.com/office/drawing/2014/main" id="{8CA6A71D-8742-4BC9-980D-25C81EFB8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9" name="flow-0-heading">
            <a:extLst xmlns:a="http://schemas.openxmlformats.org/drawingml/2006/main">
              <a:ext uri="{FF2B5EF4-FFF2-40B4-BE49-F238E27FC236}">
                <a16:creationId xmlns:a16="http://schemas.microsoft.com/office/drawing/2014/main" id="{85B88CE4-CE8D-42D2-B209-F5DFDF06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Ordinary fragments</a:t>
            </a:r>
          </a:p>
        </p:txBody>
      </p:sp>
      <p:sp>
        <p:nvSpPr>
          <p:cNvPr id="10" name="flow-0-body">
            <a:extLst xmlns:a="http://schemas.openxmlformats.org/drawingml/2006/main">
              <a:ext uri="{FF2B5EF4-FFF2-40B4-BE49-F238E27FC236}">
                <a16:creationId xmlns:a16="http://schemas.microsoft.com/office/drawing/2014/main" id="{D28215E4-1E4A-49C0-9A2B-F8AE02A0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Transport, study, shopping, work</a:t>
            </a:r>
          </a:p>
        </p:txBody>
      </p:sp>
      <p:sp>
        <p:nvSpPr>
          <p:cNvPr id="11" name="flow-1-panel">
            <a:extLst xmlns:a="http://schemas.openxmlformats.org/drawingml/2006/main">
              <a:ext uri="{FF2B5EF4-FFF2-40B4-BE49-F238E27FC236}">
                <a16:creationId xmlns:a16="http://schemas.microsoft.com/office/drawing/2014/main" id="{16167B75-9675-43C1-B543-41B81DAE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low-1-number">
            <a:extLst xmlns:a="http://schemas.openxmlformats.org/drawingml/2006/main">
              <a:ext uri="{FF2B5EF4-FFF2-40B4-BE49-F238E27FC236}">
                <a16:creationId xmlns:a16="http://schemas.microsoft.com/office/drawing/2014/main" id="{7AB388B0-9D3B-470C-B713-2A66D308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3" name="flow-1-heading">
            <a:extLst xmlns:a="http://schemas.openxmlformats.org/drawingml/2006/main">
              <a:ext uri="{FF2B5EF4-FFF2-40B4-BE49-F238E27FC236}">
                <a16:creationId xmlns:a16="http://schemas.microsoft.com/office/drawing/2014/main" id="{25C9801D-C627-4180-81A9-D2732C32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Context policy</a:t>
            </a:r>
          </a:p>
        </p:txBody>
      </p:sp>
      <p:sp>
        <p:nvSpPr>
          <p:cNvPr id="14" name="flow-1-body">
            <a:extLst xmlns:a="http://schemas.openxmlformats.org/drawingml/2006/main">
              <a:ext uri="{FF2B5EF4-FFF2-40B4-BE49-F238E27FC236}">
                <a16:creationId xmlns:a16="http://schemas.microsoft.com/office/drawing/2014/main" id="{F635560F-4A98-4A40-83E1-6BD06B3B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Which memories cross the task boundary?</a:t>
            </a:r>
          </a:p>
        </p:txBody>
      </p:sp>
      <p:sp>
        <p:nvSpPr>
          <p:cNvPr id="15" name="flow-2-panel">
            <a:extLst xmlns:a="http://schemas.openxmlformats.org/drawingml/2006/main">
              <a:ext uri="{FF2B5EF4-FFF2-40B4-BE49-F238E27FC236}">
                <a16:creationId xmlns:a16="http://schemas.microsoft.com/office/drawing/2014/main" id="{BE19AB75-F457-4B84-BFDF-02D7CBE7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low-2-number">
            <a:extLst xmlns:a="http://schemas.openxmlformats.org/drawingml/2006/main">
              <a:ext uri="{FF2B5EF4-FFF2-40B4-BE49-F238E27FC236}">
                <a16:creationId xmlns:a16="http://schemas.microsoft.com/office/drawing/2014/main" id="{37DA0FBE-1B09-4910-B9D7-096CCA24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7" name="flow-2-heading">
            <a:extLst xmlns:a="http://schemas.openxmlformats.org/drawingml/2006/main">
              <a:ext uri="{FF2B5EF4-FFF2-40B4-BE49-F238E27FC236}">
                <a16:creationId xmlns:a16="http://schemas.microsoft.com/office/drawing/2014/main" id="{7AAA00DD-B13A-409D-8328-DD359712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Model inference</a:t>
            </a:r>
          </a:p>
        </p:txBody>
      </p:sp>
      <p:sp>
        <p:nvSpPr>
          <p:cNvPr id="18" name="flow-2-body">
            <a:extLst xmlns:a="http://schemas.openxmlformats.org/drawingml/2006/main">
              <a:ext uri="{FF2B5EF4-FFF2-40B4-BE49-F238E27FC236}">
                <a16:creationId xmlns:a16="http://schemas.microsoft.com/office/drawing/2014/main" id="{E8CBD3FE-4D4C-4E7A-AA55-CFA73F05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Correlates time, place and purpose</a:t>
            </a:r>
          </a:p>
        </p:txBody>
      </p:sp>
      <p:sp>
        <p:nvSpPr>
          <p:cNvPr id="19" name="flow-3-panel">
            <a:extLst xmlns:a="http://schemas.openxmlformats.org/drawingml/2006/main">
              <a:ext uri="{FF2B5EF4-FFF2-40B4-BE49-F238E27FC236}">
                <a16:creationId xmlns:a16="http://schemas.microsoft.com/office/drawing/2014/main" id="{867D6E20-54E7-47E5-A325-6057270D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low-3-number">
            <a:extLst xmlns:a="http://schemas.openxmlformats.org/drawingml/2006/main">
              <a:ext uri="{FF2B5EF4-FFF2-40B4-BE49-F238E27FC236}">
                <a16:creationId xmlns:a16="http://schemas.microsoft.com/office/drawing/2014/main" id="{7DF999C1-7017-46DC-882D-BEC27759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1" name="flow-3-heading">
            <a:extLst xmlns:a="http://schemas.openxmlformats.org/drawingml/2006/main">
              <a:ext uri="{FF2B5EF4-FFF2-40B4-BE49-F238E27FC236}">
                <a16:creationId xmlns:a16="http://schemas.microsoft.com/office/drawing/2014/main" id="{ADDBE1EC-D0F7-4E25-8B73-BA9BDE82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Sensitive profile</a:t>
            </a:r>
          </a:p>
        </p:txBody>
      </p:sp>
      <p:sp>
        <p:nvSpPr>
          <p:cNvPr id="22" name="flow-3-body">
            <a:extLst xmlns:a="http://schemas.openxmlformats.org/drawingml/2006/main">
              <a:ext uri="{FF2B5EF4-FFF2-40B4-BE49-F238E27FC236}">
                <a16:creationId xmlns:a16="http://schemas.microsoft.com/office/drawing/2014/main" id="{136A3998-19B7-470C-B379-64429558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Location, schedule, occupation, finance</a:t>
            </a:r>
          </a:p>
        </p:txBody>
      </p:sp>
      <p:sp>
        <p:nvSpPr>
          <p:cNvPr id="23" name="linddun">
            <a:extLst xmlns:a="http://schemas.openxmlformats.org/drawingml/2006/main">
              <a:ext uri="{FF2B5EF4-FFF2-40B4-BE49-F238E27FC236}">
                <a16:creationId xmlns:a16="http://schemas.microsoft.com/office/drawing/2014/main" id="{13BE897B-FB25-40B1-A1BA-B11E92DE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8"/>
                </a:solidFill>
              </a:defRPr>
            </a:pPr>
            <a:r>
              <a:rPr sz="1650" b="1">
                <a:solidFill>
                  <a:srgbClr val="101418"/>
                </a:solidFill>
              </a:rPr>
              <a:t>LINDDUN focus: linkability enables inference and disclosure</a:t>
            </a:r>
          </a:p>
        </p:txBody>
      </p:sp>
      <p:sp>
        <p:nvSpPr>
          <p:cNvPr id="24" name="scope">
            <a:extLst xmlns:a="http://schemas.openxmlformats.org/drawingml/2006/main">
              <a:ext uri="{FF2B5EF4-FFF2-40B4-BE49-F238E27FC236}">
                <a16:creationId xmlns:a16="http://schemas.microsoft.com/office/drawing/2014/main" id="{99925CEF-2F3D-409C-AE62-392B381E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1019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Synthetic profiles only. No real-person identification, secret extraction or cross-user data access.</a:t>
            </a:r>
          </a:p>
        </p:txBody>
      </p:sp>
    </p:spTree>
    <p:extLst>
      <p:ext uri="{BB962C8B-B14F-4D97-AF65-F5344CB8AC3E}">
        <p14:creationId xmlns:p14="http://schemas.microsoft.com/office/powerpoint/2010/main" val="18621358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CF0103D1-7500-4172-B8F6-A31961BC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Ninety isolated trials tested context and controls</a:t>
            </a:r>
          </a:p>
        </p:txBody>
      </p:sp>
      <p:sp>
        <p:nvSpPr>
          <p:cNvPr id="2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3E3D1880-9E8E-446E-AF90-94683067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03</a:t>
            </a:r>
          </a:p>
        </p:txBody>
      </p:sp>
      <p:sp>
        <p:nvSpPr>
          <p:cNvPr id="3" name="slide-3-rule">
            <a:extLst xmlns:a="http://schemas.openxmlformats.org/drawingml/2006/main">
              <a:ext uri="{FF2B5EF4-FFF2-40B4-BE49-F238E27FC236}">
                <a16:creationId xmlns:a16="http://schemas.microsoft.com/office/drawing/2014/main" id="{A7DA0AB7-C4B8-4CBC-9779-3D411B0B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files-panel">
            <a:extLst xmlns:a="http://schemas.openxmlformats.org/drawingml/2006/main">
              <a:ext uri="{FF2B5EF4-FFF2-40B4-BE49-F238E27FC236}">
                <a16:creationId xmlns:a16="http://schemas.microsoft.com/office/drawing/2014/main" id="{A446391B-BAFD-4051-9371-C0E44DC7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rofiles-accent">
            <a:extLst xmlns:a="http://schemas.openxmlformats.org/drawingml/2006/main">
              <a:ext uri="{FF2B5EF4-FFF2-40B4-BE49-F238E27FC236}">
                <a16:creationId xmlns:a16="http://schemas.microsoft.com/office/drawing/2014/main" id="{B169FE19-F5CB-446C-91AE-EE639D3B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rofiles-value">
            <a:extLst xmlns:a="http://schemas.openxmlformats.org/drawingml/2006/main">
              <a:ext uri="{FF2B5EF4-FFF2-40B4-BE49-F238E27FC236}">
                <a16:creationId xmlns:a16="http://schemas.microsoft.com/office/drawing/2014/main" id="{8F0FC5E0-C21F-49C8-B5AA-0F8D8641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71650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3</a:t>
            </a:r>
          </a:p>
        </p:txBody>
      </p:sp>
      <p:sp>
        <p:nvSpPr>
          <p:cNvPr id="7" name="profiles-label">
            <a:extLst xmlns:a="http://schemas.openxmlformats.org/drawingml/2006/main">
              <a:ext uri="{FF2B5EF4-FFF2-40B4-BE49-F238E27FC236}">
                <a16:creationId xmlns:a16="http://schemas.microsoft.com/office/drawing/2014/main" id="{6AC5043B-1A83-40FF-9528-AD6DC990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synthetic profiles</a:t>
            </a:r>
          </a:p>
        </p:txBody>
      </p:sp>
      <p:sp>
        <p:nvSpPr>
          <p:cNvPr id="8" name="prompts-panel">
            <a:extLst xmlns:a="http://schemas.openxmlformats.org/drawingml/2006/main">
              <a:ext uri="{FF2B5EF4-FFF2-40B4-BE49-F238E27FC236}">
                <a16:creationId xmlns:a16="http://schemas.microsoft.com/office/drawing/2014/main" id="{0DBE084B-CA21-4D38-8DCD-4CCAD07B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466850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ompts-accent">
            <a:extLst xmlns:a="http://schemas.openxmlformats.org/drawingml/2006/main">
              <a:ext uri="{FF2B5EF4-FFF2-40B4-BE49-F238E27FC236}">
                <a16:creationId xmlns:a16="http://schemas.microsoft.com/office/drawing/2014/main" id="{699C4731-CFA3-422E-8023-90BF2516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466850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mpts-value">
            <a:extLst xmlns:a="http://schemas.openxmlformats.org/drawingml/2006/main">
              <a:ext uri="{FF2B5EF4-FFF2-40B4-BE49-F238E27FC236}">
                <a16:creationId xmlns:a16="http://schemas.microsoft.com/office/drawing/2014/main" id="{16A22899-6F42-495B-93B0-B154F8B4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771650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90</a:t>
            </a:r>
          </a:p>
        </p:txBody>
      </p:sp>
      <p:sp>
        <p:nvSpPr>
          <p:cNvPr id="11" name="prompts-label">
            <a:extLst xmlns:a="http://schemas.openxmlformats.org/drawingml/2006/main">
              <a:ext uri="{FF2B5EF4-FFF2-40B4-BE49-F238E27FC236}">
                <a16:creationId xmlns:a16="http://schemas.microsoft.com/office/drawing/2014/main" id="{AE7303BE-0ABF-4DAD-ADE7-4A82216D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514600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first responses preserved</a:t>
            </a:r>
          </a:p>
        </p:txBody>
      </p:sp>
      <p:sp>
        <p:nvSpPr>
          <p:cNvPr id="12" name="baseline-panel">
            <a:extLst xmlns:a="http://schemas.openxmlformats.org/drawingml/2006/main">
              <a:ext uri="{FF2B5EF4-FFF2-40B4-BE49-F238E27FC236}">
                <a16:creationId xmlns:a16="http://schemas.microsoft.com/office/drawing/2014/main" id="{F32949A0-A7A8-4BAD-9596-95EFDB92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2325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aseline-accent">
            <a:extLst xmlns:a="http://schemas.openxmlformats.org/drawingml/2006/main">
              <a:ext uri="{FF2B5EF4-FFF2-40B4-BE49-F238E27FC236}">
                <a16:creationId xmlns:a16="http://schemas.microsoft.com/office/drawing/2014/main" id="{4D3F1457-58BA-45AE-B469-1C52DBE5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2325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aseline-value">
            <a:extLst xmlns:a="http://schemas.openxmlformats.org/drawingml/2006/main">
              <a:ext uri="{FF2B5EF4-FFF2-40B4-BE49-F238E27FC236}">
                <a16:creationId xmlns:a16="http://schemas.microsoft.com/office/drawing/2014/main" id="{3EC445B8-6565-4357-B2FD-17779B48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60</a:t>
            </a:r>
          </a:p>
        </p:txBody>
      </p:sp>
      <p:sp>
        <p:nvSpPr>
          <p:cNvPr id="15" name="baseline-label">
            <a:extLst xmlns:a="http://schemas.openxmlformats.org/drawingml/2006/main">
              <a:ext uri="{FF2B5EF4-FFF2-40B4-BE49-F238E27FC236}">
                <a16:creationId xmlns:a16="http://schemas.microsoft.com/office/drawing/2014/main" id="{DDB06FF9-E494-46C0-A2A3-EF03D980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0075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4 contexts x 5 questions</a:t>
            </a:r>
          </a:p>
        </p:txBody>
      </p:sp>
      <p:sp>
        <p:nvSpPr>
          <p:cNvPr id="16" name="mitigation-panel">
            <a:extLst xmlns:a="http://schemas.openxmlformats.org/drawingml/2006/main">
              <a:ext uri="{FF2B5EF4-FFF2-40B4-BE49-F238E27FC236}">
                <a16:creationId xmlns:a16="http://schemas.microsoft.com/office/drawing/2014/main" id="{965E33FC-67FC-48A7-8A78-FE73C623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362325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itigation-accent">
            <a:extLst xmlns:a="http://schemas.openxmlformats.org/drawingml/2006/main">
              <a:ext uri="{FF2B5EF4-FFF2-40B4-BE49-F238E27FC236}">
                <a16:creationId xmlns:a16="http://schemas.microsoft.com/office/drawing/2014/main" id="{840D22EB-0024-4197-B77B-82CAE454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362325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itigation-value">
            <a:extLst xmlns:a="http://schemas.openxmlformats.org/drawingml/2006/main">
              <a:ext uri="{FF2B5EF4-FFF2-40B4-BE49-F238E27FC236}">
                <a16:creationId xmlns:a16="http://schemas.microsoft.com/office/drawing/2014/main" id="{F4EEA5B9-EAFD-41A7-9B99-021F5761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667125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30</a:t>
            </a:r>
          </a:p>
        </p:txBody>
      </p:sp>
      <p:sp>
        <p:nvSpPr>
          <p:cNvPr id="19" name="mitigation-label">
            <a:extLst xmlns:a="http://schemas.openxmlformats.org/drawingml/2006/main">
              <a:ext uri="{FF2B5EF4-FFF2-40B4-BE49-F238E27FC236}">
                <a16:creationId xmlns:a16="http://schemas.microsoft.com/office/drawing/2014/main" id="{2F76C50D-ABAE-49C9-80B0-7EFA919B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410075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2 controls at full context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27c9038594ff3"/>
          <a:stretch xmlns:a="http://schemas.openxmlformats.org/drawingml/2006/main"/>
        </p:blipFill>
        <p:spPr>
          <a:xfrm xmlns:a="http://schemas.openxmlformats.org/drawingml/2006/main">
            <a:off x="5143500" y="1623435"/>
            <a:ext cx="6591300" cy="3382530"/>
          </a:xfrm>
          <a:prstGeom xmlns:a="http://schemas.openxmlformats.org/drawingml/2006/main" prst="rect">
            <a:avLst/>
          </a:prstGeom>
        </p:spPr>
      </p:pic>
      <p:sp>
        <p:nvSpPr>
          <p:cNvPr id="21" name="method-caption">
            <a:extLst xmlns:a="http://schemas.openxmlformats.org/drawingml/2006/main">
              <a:ext uri="{FF2B5EF4-FFF2-40B4-BE49-F238E27FC236}">
                <a16:creationId xmlns:a16="http://schemas.microsoft.com/office/drawing/2014/main" id="{6711CE1E-C2A6-461B-86CD-20448A0A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372100"/>
            <a:ext cx="659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418"/>
                </a:solidFill>
              </a:defRPr>
            </a:pPr>
            <a:r>
              <a:rPr sz="1350" b="1">
                <a:solidFill>
                  <a:srgbClr val="101418"/>
                </a:solidFill>
              </a:rPr>
              <a:t>Each prompt opened in a new Temporary Chat; all 90 outputs parsed as JSON.</a:t>
            </a:r>
          </a:p>
        </p:txBody>
      </p:sp>
      <p:sp>
        <p:nvSpPr>
          <p:cNvPr id="22" name="method-model">
            <a:extLst xmlns:a="http://schemas.openxmlformats.org/drawingml/2006/main">
              <a:ext uri="{FF2B5EF4-FFF2-40B4-BE49-F238E27FC236}">
                <a16:creationId xmlns:a16="http://schemas.microsoft.com/office/drawing/2014/main" id="{26A9463C-FA12-4EBF-B112-4EFDD60C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886450"/>
            <a:ext cx="659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Interface label: ChatGPT Plus, High mode; exact model ID not exposed.</a:t>
            </a:r>
          </a:p>
        </p:txBody>
      </p:sp>
    </p:spTree>
    <p:extLst>
      <p:ext uri="{BB962C8B-B14F-4D97-AF65-F5344CB8AC3E}">
        <p14:creationId xmlns:p14="http://schemas.microsoft.com/office/powerpoint/2010/main" val="4724555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5177AE07-BF90-41A7-A274-8E156D9A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More linked context drove leakage from 0.53 to 1.00</a:t>
            </a:r>
          </a:p>
        </p:txBody>
      </p:sp>
      <p:sp>
        <p:nvSpPr>
          <p:cNvPr id="2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4D4144CA-95AB-49B0-B2E8-0AB62841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04</a:t>
            </a:r>
          </a:p>
        </p:txBody>
      </p:sp>
      <p:sp>
        <p:nvSpPr>
          <p:cNvPr id="3" name="slide-4-rule">
            <a:extLst xmlns:a="http://schemas.openxmlformats.org/drawingml/2006/main">
              <a:ext uri="{FF2B5EF4-FFF2-40B4-BE49-F238E27FC236}">
                <a16:creationId xmlns:a16="http://schemas.microsoft.com/office/drawing/2014/main" id="{CAC2B587-2C30-47B9-8A2B-115C634E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571500" y="1524000"/>
          <a:ext xmlns:a="http://schemas.openxmlformats.org/drawingml/2006/main" cx="7000875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9966e1e48f4442"/>
          </a:graphicData>
        </a:graphic>
      </p:graphicFrame>
      <p:sp>
        <p:nvSpPr>
          <p:cNvPr id="5" name="result-callout">
            <a:extLst xmlns:a="http://schemas.openxmlformats.org/drawingml/2006/main">
              <a:ext uri="{FF2B5EF4-FFF2-40B4-BE49-F238E27FC236}">
                <a16:creationId xmlns:a16="http://schemas.microsoft.com/office/drawing/2014/main" id="{1740E78B-8B86-4767-96BA-F38737E1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619250"/>
            <a:ext cx="3238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esult-value">
            <a:extLst xmlns:a="http://schemas.openxmlformats.org/drawingml/2006/main">
              <a:ext uri="{FF2B5EF4-FFF2-40B4-BE49-F238E27FC236}">
                <a16:creationId xmlns:a16="http://schemas.microsoft.com/office/drawing/2014/main" id="{B6B6EB66-179E-492A-8CBA-A2BCDD57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D8DFF"/>
                </a:solidFill>
              </a:defRPr>
            </a:pPr>
            <a:r>
              <a:rPr sz="3300" b="1">
                <a:solidFill>
                  <a:srgbClr val="3D8DFF"/>
                </a:solidFill>
              </a:rPr>
              <a:t>+0.47</a:t>
            </a:r>
          </a:p>
        </p:txBody>
      </p:sp>
      <p:sp>
        <p:nvSpPr>
          <p:cNvPr id="7" name="result-copy">
            <a:extLst xmlns:a="http://schemas.openxmlformats.org/drawingml/2006/main">
              <a:ext uri="{FF2B5EF4-FFF2-40B4-BE49-F238E27FC236}">
                <a16:creationId xmlns:a16="http://schemas.microsoft.com/office/drawing/2014/main" id="{68102DE2-8274-4F18-9792-1C47888C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19375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leakage increase from one fragment to all fifteen</a:t>
            </a:r>
          </a:p>
        </p:txBody>
      </p:sp>
      <p:sp>
        <p:nvSpPr>
          <p:cNvPr id="8" name="confidence-callout">
            <a:extLst xmlns:a="http://schemas.openxmlformats.org/drawingml/2006/main">
              <a:ext uri="{FF2B5EF4-FFF2-40B4-BE49-F238E27FC236}">
                <a16:creationId xmlns:a16="http://schemas.microsoft.com/office/drawing/2014/main" id="{61A554CF-E1C3-419E-AD7D-A55677FF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71875"/>
            <a:ext cx="3238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nfidence-value">
            <a:extLst xmlns:a="http://schemas.openxmlformats.org/drawingml/2006/main">
              <a:ext uri="{FF2B5EF4-FFF2-40B4-BE49-F238E27FC236}">
                <a16:creationId xmlns:a16="http://schemas.microsoft.com/office/drawing/2014/main" id="{04121FFB-AA42-4A5C-AEF6-A69888FF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57625"/>
            <a:ext cx="271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1418"/>
                </a:solidFill>
              </a:defRPr>
            </a:pPr>
            <a:r>
              <a:rPr sz="2625" b="1">
                <a:solidFill>
                  <a:srgbClr val="101418"/>
                </a:solidFill>
              </a:rPr>
              <a:t>0.54 → 0.84</a:t>
            </a:r>
          </a:p>
        </p:txBody>
      </p:sp>
      <p:sp>
        <p:nvSpPr>
          <p:cNvPr id="10" name="confidence-copy">
            <a:extLst xmlns:a="http://schemas.openxmlformats.org/drawingml/2006/main">
              <a:ext uri="{FF2B5EF4-FFF2-40B4-BE49-F238E27FC236}">
                <a16:creationId xmlns:a16="http://schemas.microsoft.com/office/drawing/2014/main" id="{0CBCAD9F-B342-4524-A704-5B1C9364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24375"/>
            <a:ext cx="261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mean model-reported confidence also increased</a:t>
            </a:r>
          </a:p>
        </p:txBody>
      </p:sp>
      <p:sp>
        <p:nvSpPr>
          <p:cNvPr id="11" name="result-footnote">
            <a:extLst xmlns:a="http://schemas.openxmlformats.org/drawingml/2006/main">
              <a:ext uri="{FF2B5EF4-FFF2-40B4-BE49-F238E27FC236}">
                <a16:creationId xmlns:a16="http://schemas.microsoft.com/office/drawing/2014/main" id="{088CB3A7-E2D6-46E0-8264-EB275765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Baseline only; n = 15 responses per condition. Descriptive scores, not population estimates.</a:t>
            </a:r>
          </a:p>
        </p:txBody>
      </p:sp>
    </p:spTree>
    <p:extLst>
      <p:ext uri="{BB962C8B-B14F-4D97-AF65-F5344CB8AC3E}">
        <p14:creationId xmlns:p14="http://schemas.microsoft.com/office/powerpoint/2010/main" val="7883516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CA8E061A-4A82-4A51-AAFB-544DC35B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Simple mitigations barely changed disclosure</a:t>
            </a:r>
          </a:p>
        </p:txBody>
      </p:sp>
      <p:sp>
        <p:nvSpPr>
          <p:cNvPr id="2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A1305CDA-5842-479D-BCC6-17AA67D1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05</a:t>
            </a:r>
          </a:p>
        </p:txBody>
      </p:sp>
      <p:sp>
        <p:nvSpPr>
          <p:cNvPr id="3" name="slide-5-rule">
            <a:extLst xmlns:a="http://schemas.openxmlformats.org/drawingml/2006/main">
              <a:ext uri="{FF2B5EF4-FFF2-40B4-BE49-F238E27FC236}">
                <a16:creationId xmlns:a16="http://schemas.microsoft.com/office/drawing/2014/main" id="{9CAF9D3B-C3D3-46D5-AF0B-F3F0D7D8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71500" y="1571625"/>
          <a:ext xmlns:a="http://schemas.openxmlformats.org/drawingml/2006/main" cx="65722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e4d109f0044f35"/>
          </a:graphicData>
        </a:graphic>
      </p:graphicFrame>
      <p:sp>
        <p:nvSpPr>
          <p:cNvPr id="5" name="finding-0-panel">
            <a:extLst xmlns:a="http://schemas.openxmlformats.org/drawingml/2006/main">
              <a:ext uri="{FF2B5EF4-FFF2-40B4-BE49-F238E27FC236}">
                <a16:creationId xmlns:a16="http://schemas.microsoft.com/office/drawing/2014/main" id="{0AAE9CC5-6DCB-44B6-8979-1E2E37C2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00200"/>
            <a:ext cx="3714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nding-0-title">
            <a:extLst xmlns:a="http://schemas.openxmlformats.org/drawingml/2006/main">
              <a:ext uri="{FF2B5EF4-FFF2-40B4-BE49-F238E27FC236}">
                <a16:creationId xmlns:a16="http://schemas.microsoft.com/office/drawing/2014/main" id="{8F80B17E-F43B-4CA5-8DBB-E907EA15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71650"/>
            <a:ext cx="3286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418"/>
                </a:solidFill>
              </a:defRPr>
            </a:pPr>
            <a:r>
              <a:rPr sz="1425" b="1">
                <a:solidFill>
                  <a:srgbClr val="101418"/>
                </a:solidFill>
              </a:rPr>
              <a:t>Exact-detail redaction</a:t>
            </a:r>
          </a:p>
        </p:txBody>
      </p:sp>
      <p:sp>
        <p:nvSpPr>
          <p:cNvPr id="7" name="finding-0-body">
            <a:extLst xmlns:a="http://schemas.openxmlformats.org/drawingml/2006/main">
              <a:ext uri="{FF2B5EF4-FFF2-40B4-BE49-F238E27FC236}">
                <a16:creationId xmlns:a16="http://schemas.microsoft.com/office/drawing/2014/main" id="{2971C9EE-7778-457F-B5FD-FB0C5220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Only a 0.03 reduction; broader routines still linked.</a:t>
            </a:r>
          </a:p>
        </p:txBody>
      </p:sp>
      <p:sp>
        <p:nvSpPr>
          <p:cNvPr id="8" name="finding-1-panel">
            <a:extLst xmlns:a="http://schemas.openxmlformats.org/drawingml/2006/main">
              <a:ext uri="{FF2B5EF4-FFF2-40B4-BE49-F238E27FC236}">
                <a16:creationId xmlns:a16="http://schemas.microsoft.com/office/drawing/2014/main" id="{4EB592A6-BCC0-4286-A307-15B40083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81325"/>
            <a:ext cx="3714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inding-1-title">
            <a:extLst xmlns:a="http://schemas.openxmlformats.org/drawingml/2006/main">
              <a:ext uri="{FF2B5EF4-FFF2-40B4-BE49-F238E27FC236}">
                <a16:creationId xmlns:a16="http://schemas.microsoft.com/office/drawing/2014/main" id="{43F976D3-24E7-49E5-BE4D-1399295E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52775"/>
            <a:ext cx="3286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418"/>
                </a:solidFill>
              </a:defRPr>
            </a:pPr>
            <a:r>
              <a:rPr sz="1425" b="1">
                <a:solidFill>
                  <a:srgbClr val="101418"/>
                </a:solidFill>
              </a:rPr>
              <a:t>Sensitive-inference warning</a:t>
            </a:r>
          </a:p>
        </p:txBody>
      </p:sp>
      <p:sp>
        <p:nvSpPr>
          <p:cNvPr id="10" name="finding-1-body">
            <a:extLst xmlns:a="http://schemas.openxmlformats.org/drawingml/2006/main">
              <a:ext uri="{FF2B5EF4-FFF2-40B4-BE49-F238E27FC236}">
                <a16:creationId xmlns:a16="http://schemas.microsoft.com/office/drawing/2014/main" id="{5954F0B3-4640-4B8F-8B04-AC4CFCE0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14725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Only a 0.03 reduction; confidence fell by about 0.05.</a:t>
            </a:r>
          </a:p>
        </p:txBody>
      </p:sp>
      <p:sp>
        <p:nvSpPr>
          <p:cNvPr id="11" name="finding-2-panel">
            <a:extLst xmlns:a="http://schemas.openxmlformats.org/drawingml/2006/main">
              <a:ext uri="{FF2B5EF4-FFF2-40B4-BE49-F238E27FC236}">
                <a16:creationId xmlns:a16="http://schemas.microsoft.com/office/drawing/2014/main" id="{912B610B-C2CF-4ECA-8BAC-AE4E8363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62450"/>
            <a:ext cx="3714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inding-2-title">
            <a:extLst xmlns:a="http://schemas.openxmlformats.org/drawingml/2006/main">
              <a:ext uri="{FF2B5EF4-FFF2-40B4-BE49-F238E27FC236}">
                <a16:creationId xmlns:a16="http://schemas.microsoft.com/office/drawing/2014/main" id="{9A199862-A105-4333-AC76-DD266437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33900"/>
            <a:ext cx="3286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418"/>
                </a:solidFill>
              </a:defRPr>
            </a:pPr>
            <a:r>
              <a:rPr sz="1425" b="1">
                <a:solidFill>
                  <a:srgbClr val="101418"/>
                </a:solidFill>
              </a:rPr>
              <a:t>Weak compartments</a:t>
            </a:r>
          </a:p>
        </p:txBody>
      </p:sp>
      <p:sp>
        <p:nvSpPr>
          <p:cNvPr id="13" name="finding-2-body">
            <a:extLst xmlns:a="http://schemas.openxmlformats.org/drawingml/2006/main">
              <a:ext uri="{FF2B5EF4-FFF2-40B4-BE49-F238E27FC236}">
                <a16:creationId xmlns:a16="http://schemas.microsoft.com/office/drawing/2014/main" id="{529CB17C-C55F-4893-92AD-7F2A4038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9585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Five correlated fragments still leaked 0.97.</a:t>
            </a:r>
          </a:p>
        </p:txBody>
      </p:sp>
      <p:sp>
        <p:nvSpPr>
          <p:cNvPr id="14" name="mitigation-footnote">
            <a:extLst xmlns:a="http://schemas.openxmlformats.org/drawingml/2006/main">
              <a:ext uri="{FF2B5EF4-FFF2-40B4-BE49-F238E27FC236}">
                <a16:creationId xmlns:a16="http://schemas.microsoft.com/office/drawing/2014/main" id="{7E67D18C-14B9-4534-9ECE-1FDF846E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Full aggregated context only; n = 15 per treatment.</a:t>
            </a:r>
          </a:p>
        </p:txBody>
      </p:sp>
    </p:spTree>
    <p:extLst>
      <p:ext uri="{BB962C8B-B14F-4D97-AF65-F5344CB8AC3E}">
        <p14:creationId xmlns:p14="http://schemas.microsoft.com/office/powerpoint/2010/main" val="21333559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65030833-ABE2-4A87-B659-B817930E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Protect privacy before context reaches the model</a:t>
            </a:r>
          </a:p>
        </p:txBody>
      </p:sp>
      <p:sp>
        <p:nvSpPr>
          <p:cNvPr id="2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1858E37D-0591-4DEF-BB33-05C6EC5E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06</a:t>
            </a:r>
          </a:p>
        </p:txBody>
      </p:sp>
      <p:sp>
        <p:nvSpPr>
          <p:cNvPr id="3" name="slide-6-rule">
            <a:extLst xmlns:a="http://schemas.openxmlformats.org/drawingml/2006/main">
              <a:ext uri="{FF2B5EF4-FFF2-40B4-BE49-F238E27FC236}">
                <a16:creationId xmlns:a16="http://schemas.microsoft.com/office/drawing/2014/main" id="{BA671149-44EB-4483-8EBA-D22C84D9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ec-0-number">
            <a:extLst xmlns:a="http://schemas.openxmlformats.org/drawingml/2006/main">
              <a:ext uri="{FF2B5EF4-FFF2-40B4-BE49-F238E27FC236}">
                <a16:creationId xmlns:a16="http://schemas.microsoft.com/office/drawing/2014/main" id="{C6CD347A-8A0C-461B-AAB4-651FED86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5" name="rec-0-title">
            <a:extLst xmlns:a="http://schemas.openxmlformats.org/drawingml/2006/main">
              <a:ext uri="{FF2B5EF4-FFF2-40B4-BE49-F238E27FC236}">
                <a16:creationId xmlns:a16="http://schemas.microsoft.com/office/drawing/2014/main" id="{D6B9E1B4-9617-4954-BE9D-6C1A2B3F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04950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Minimise</a:t>
            </a:r>
          </a:p>
        </p:txBody>
      </p:sp>
      <p:sp>
        <p:nvSpPr>
          <p:cNvPr id="6" name="rec-0-rule">
            <a:extLst xmlns:a="http://schemas.openxmlformats.org/drawingml/2006/main">
              <a:ext uri="{FF2B5EF4-FFF2-40B4-BE49-F238E27FC236}">
                <a16:creationId xmlns:a16="http://schemas.microsoft.com/office/drawing/2014/main" id="{22DFD7F0-3ACB-483E-953E-6DE1A5CD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81200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c-0-body">
            <a:extLst xmlns:a="http://schemas.openxmlformats.org/drawingml/2006/main">
              <a:ext uri="{FF2B5EF4-FFF2-40B4-BE49-F238E27FC236}">
                <a16:creationId xmlns:a16="http://schemas.microsoft.com/office/drawing/2014/main" id="{C79D9E20-3ECE-4FED-8896-853E0FC1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71700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Retrieve only what the current task needs.</a:t>
            </a:r>
          </a:p>
        </p:txBody>
      </p:sp>
      <p:sp>
        <p:nvSpPr>
          <p:cNvPr id="8" name="rec-1-number">
            <a:extLst xmlns:a="http://schemas.openxmlformats.org/drawingml/2006/main">
              <a:ext uri="{FF2B5EF4-FFF2-40B4-BE49-F238E27FC236}">
                <a16:creationId xmlns:a16="http://schemas.microsoft.com/office/drawing/2014/main" id="{B6D2C461-299D-4C95-BACD-AEC64D4E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24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9" name="rec-1-title">
            <a:extLst xmlns:a="http://schemas.openxmlformats.org/drawingml/2006/main">
              <a:ext uri="{FF2B5EF4-FFF2-40B4-BE49-F238E27FC236}">
                <a16:creationId xmlns:a16="http://schemas.microsoft.com/office/drawing/2014/main" id="{59BC1887-A9D9-4D30-A229-167CD6D8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04950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Isolate by purpose</a:t>
            </a:r>
          </a:p>
        </p:txBody>
      </p:sp>
      <p:sp>
        <p:nvSpPr>
          <p:cNvPr id="10" name="rec-1-rule">
            <a:extLst xmlns:a="http://schemas.openxmlformats.org/drawingml/2006/main">
              <a:ext uri="{FF2B5EF4-FFF2-40B4-BE49-F238E27FC236}">
                <a16:creationId xmlns:a16="http://schemas.microsoft.com/office/drawing/2014/main" id="{1BAB760D-E3F9-40C4-8853-ADAF7A69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81200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c-1-body">
            <a:extLst xmlns:a="http://schemas.openxmlformats.org/drawingml/2006/main">
              <a:ext uri="{FF2B5EF4-FFF2-40B4-BE49-F238E27FC236}">
                <a16:creationId xmlns:a16="http://schemas.microsoft.com/office/drawing/2014/main" id="{D37C1B47-3081-4D6B-A3FD-D248D13C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71700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Test whether each compartment still encodes sensitive attributes.</a:t>
            </a:r>
          </a:p>
        </p:txBody>
      </p:sp>
      <p:sp>
        <p:nvSpPr>
          <p:cNvPr id="12" name="rec-2-number">
            <a:extLst xmlns:a="http://schemas.openxmlformats.org/drawingml/2006/main">
              <a:ext uri="{FF2B5EF4-FFF2-40B4-BE49-F238E27FC236}">
                <a16:creationId xmlns:a16="http://schemas.microsoft.com/office/drawing/2014/main" id="{D50848B5-F977-4D66-B9AB-5698AE67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718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3" name="rec-2-title">
            <a:extLst xmlns:a="http://schemas.openxmlformats.org/drawingml/2006/main">
              <a:ext uri="{FF2B5EF4-FFF2-40B4-BE49-F238E27FC236}">
                <a16:creationId xmlns:a16="http://schemas.microsoft.com/office/drawing/2014/main" id="{F20F63F8-EC82-4E07-A098-AD007274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52825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Red-team combinations</a:t>
            </a:r>
          </a:p>
        </p:txBody>
      </p:sp>
      <p:sp>
        <p:nvSpPr>
          <p:cNvPr id="14" name="rec-2-rule">
            <a:extLst xmlns:a="http://schemas.openxmlformats.org/drawingml/2006/main">
              <a:ext uri="{FF2B5EF4-FFF2-40B4-BE49-F238E27FC236}">
                <a16:creationId xmlns:a16="http://schemas.microsoft.com/office/drawing/2014/main" id="{44933FBA-8C1B-43D6-9720-3AABC626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29075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c-2-body">
            <a:extLst xmlns:a="http://schemas.openxmlformats.org/drawingml/2006/main">
              <a:ext uri="{FF2B5EF4-FFF2-40B4-BE49-F238E27FC236}">
                <a16:creationId xmlns:a16="http://schemas.microsoft.com/office/drawing/2014/main" id="{6F8779CD-3667-47A1-A9F2-C2C1253D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9575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Evaluate linkability and attribute inference, not only direct secrets.</a:t>
            </a:r>
          </a:p>
        </p:txBody>
      </p:sp>
      <p:sp>
        <p:nvSpPr>
          <p:cNvPr id="16" name="rec-3-number">
            <a:extLst xmlns:a="http://schemas.openxmlformats.org/drawingml/2006/main">
              <a:ext uri="{FF2B5EF4-FFF2-40B4-BE49-F238E27FC236}">
                <a16:creationId xmlns:a16="http://schemas.microsoft.com/office/drawing/2014/main" id="{A4BCD751-C7EB-4F0E-9C7F-713C81E6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718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7" name="rec-3-title">
            <a:extLst xmlns:a="http://schemas.openxmlformats.org/drawingml/2006/main">
              <a:ext uri="{FF2B5EF4-FFF2-40B4-BE49-F238E27FC236}">
                <a16:creationId xmlns:a16="http://schemas.microsoft.com/office/drawing/2014/main" id="{13C5A8D4-4CE3-4AF5-8521-08AFCCE2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52825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Treat warnings as secondary</a:t>
            </a:r>
          </a:p>
        </p:txBody>
      </p:sp>
      <p:sp>
        <p:nvSpPr>
          <p:cNvPr id="18" name="rec-3-rule">
            <a:extLst xmlns:a="http://schemas.openxmlformats.org/drawingml/2006/main">
              <a:ext uri="{FF2B5EF4-FFF2-40B4-BE49-F238E27FC236}">
                <a16:creationId xmlns:a16="http://schemas.microsoft.com/office/drawing/2014/main" id="{E426B7E8-E290-48A5-950F-7F32D6BD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29075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c-3-body">
            <a:extLst xmlns:a="http://schemas.openxmlformats.org/drawingml/2006/main">
              <a:ext uri="{FF2B5EF4-FFF2-40B4-BE49-F238E27FC236}">
                <a16:creationId xmlns:a16="http://schemas.microsoft.com/office/drawing/2014/main" id="{5CB54FBD-D14B-4A88-BD52-6C368F39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19575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Enforce boundaries in data flow, then add policy instructions.</a:t>
            </a:r>
          </a:p>
        </p:txBody>
      </p:sp>
      <p:sp>
        <p:nvSpPr>
          <p:cNvPr id="20" name="closing-band">
            <a:extLst xmlns:a="http://schemas.openxmlformats.org/drawingml/2006/main">
              <a:ext uri="{FF2B5EF4-FFF2-40B4-BE49-F238E27FC236}">
                <a16:creationId xmlns:a16="http://schemas.microsoft.com/office/drawing/2014/main" id="{9A6B7FF2-3540-4DB3-8724-983ADD48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19750"/>
            <a:ext cx="11096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losing-message">
            <a:extLst xmlns:a="http://schemas.openxmlformats.org/drawingml/2006/main">
              <a:ext uri="{FF2B5EF4-FFF2-40B4-BE49-F238E27FC236}">
                <a16:creationId xmlns:a16="http://schemas.microsoft.com/office/drawing/2014/main" id="{A45A1C5F-0DCF-435F-80D0-A94FBA89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91200"/>
            <a:ext cx="1062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Privacy is a property of the combination, not just the individual fragment.</a:t>
            </a:r>
          </a:p>
        </p:txBody>
      </p:sp>
    </p:spTree>
    <p:extLst>
      <p:ext uri="{BB962C8B-B14F-4D97-AF65-F5344CB8AC3E}">
        <p14:creationId xmlns:p14="http://schemas.microsoft.com/office/powerpoint/2010/main" val="18876032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2026-07-26T13:59:25.2540000Z</dcterms:created>
  <dcterms:modified xsi:type="dcterms:W3CDTF">2026-07-26T13:59:25.2540000Z</dcterms:modified>
</coreProperties>
</file>