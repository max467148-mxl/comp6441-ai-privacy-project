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c3760af8b4c87" /><Relationship Type="http://schemas.openxmlformats.org/officeDocument/2006/relationships/extended-properties" Target="/docProps/app.xml" Id="R28fabdf551ef416c" /><Relationship Type="http://schemas.openxmlformats.org/officeDocument/2006/relationships/officeDocument" Target="/ppt/presentation.xml" Id="R8fc15b2e04c8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c6d04b647407c"/>
  </p:sldMasterIdLst>
  <p:notesMasterIdLst>
    <p:notesMasterId xmlns:r="http://schemas.openxmlformats.org/officeDocument/2006/relationships" r:id="Rfb0d041b02134bf3"/>
  </p:notesMasterIdLst>
  <p:sldIdLst>
    <p:sldId xmlns:r="http://schemas.openxmlformats.org/officeDocument/2006/relationships" id="256" r:id="Rd3e10633daf24a35"/>
    <p:sldId xmlns:r="http://schemas.openxmlformats.org/officeDocument/2006/relationships" id="257" r:id="R3491faf360774676"/>
    <p:sldId xmlns:r="http://schemas.openxmlformats.org/officeDocument/2006/relationships" id="258" r:id="R7b001c5c5e6e43f0"/>
    <p:sldId xmlns:r="http://schemas.openxmlformats.org/officeDocument/2006/relationships" id="259" r:id="R89f1e0913f27411a"/>
    <p:sldId xmlns:r="http://schemas.openxmlformats.org/officeDocument/2006/relationships" id="260" r:id="Rf7dd7e4bbf064dd8"/>
    <p:sldId xmlns:r="http://schemas.openxmlformats.org/officeDocument/2006/relationships" id="261" r:id="R0f822213342942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aea532bac4b36" /><Relationship Type="http://schemas.openxmlformats.org/officeDocument/2006/relationships/slideMaster" Target="/ppt/slideMasters/slideMaster1.xml" Id="Ra96c6d04b647407c" /><Relationship Type="http://schemas.openxmlformats.org/officeDocument/2006/relationships/notesMaster" Target="/ppt/notesMasters/notesMaster1.xml" Id="Rfb0d041b02134bf3" /><Relationship Type="http://schemas.openxmlformats.org/officeDocument/2006/relationships/presProps" Target="/ppt/presProps.xml" Id="R35bc52b099004e8f" /><Relationship Type="http://schemas.openxmlformats.org/officeDocument/2006/relationships/tableStyles" Target="/ppt/tableStyles.xml" Id="R29e2f25357e04e3c" /><Relationship Type="http://schemas.openxmlformats.org/officeDocument/2006/relationships/slide" Target="/ppt/slides/slide1.xml" Id="Rd3e10633daf24a35" /><Relationship Type="http://schemas.openxmlformats.org/officeDocument/2006/relationships/slide" Target="/ppt/slides/slide2.xml" Id="R3491faf360774676" /><Relationship Type="http://schemas.openxmlformats.org/officeDocument/2006/relationships/slide" Target="/ppt/slides/slide3.xml" Id="R7b001c5c5e6e43f0" /><Relationship Type="http://schemas.openxmlformats.org/officeDocument/2006/relationships/slide" Target="/ppt/slides/slide4.xml" Id="R89f1e0913f27411a" /><Relationship Type="http://schemas.openxmlformats.org/officeDocument/2006/relationships/slide" Target="/ppt/slides/slide5.xml" Id="Rf7dd7e4bbf064dd8" /><Relationship Type="http://schemas.openxmlformats.org/officeDocument/2006/relationships/slide" Target="/ppt/slides/slide6.xml" Id="R0f8222133429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ff3924432d40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469e93960462a" /><Relationship Type="http://schemas.openxmlformats.org/officeDocument/2006/relationships/notesMaster" Target="/ppt/notesMasters/notesMaster1.xml" Id="R4c41386a6c11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b908360bf4c0d" /><Relationship Type="http://schemas.openxmlformats.org/officeDocument/2006/relationships/notesMaster" Target="/ppt/notesMasters/notesMaster1.xml" Id="Rbd2ca4330175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e61ed118a4fd3" /><Relationship Type="http://schemas.openxmlformats.org/officeDocument/2006/relationships/notesMaster" Target="/ppt/notesMasters/notesMaster1.xml" Id="R82353ebd3a3e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ef75e22934715" /><Relationship Type="http://schemas.openxmlformats.org/officeDocument/2006/relationships/notesMaster" Target="/ppt/notesMasters/notesMaster1.xml" Id="Reb56d893d85641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42ddfe6a1843e2" /><Relationship Type="http://schemas.openxmlformats.org/officeDocument/2006/relationships/notesMaster" Target="/ppt/notesMasters/notesMaster1.xml" Id="Rb55fd0dd3b14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8d54e897a44651" /><Relationship Type="http://schemas.openxmlformats.org/officeDocument/2006/relationships/notesMaster" Target="/ppt/notesMasters/notesMaster1.xml" Id="R806f637ce04d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7762793c943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7fe17d0244556" /><Relationship Type="http://schemas.openxmlformats.org/officeDocument/2006/relationships/slideLayout" Target="/ppt/slideLayouts/slideLayout1.xml" Id="R3c35dfe57dd640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35dfe57dd640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0573790154d04" /><Relationship Type="http://schemas.openxmlformats.org/officeDocument/2006/relationships/notesSlide" Target="/ppt/notesSlides/notesSlide1.xml" Id="R79670ad6c854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7bf0510ff44ca" /><Relationship Type="http://schemas.openxmlformats.org/officeDocument/2006/relationships/notesSlide" Target="/ppt/notesSlides/notesSlide2.xml" Id="Rbebe357f4581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761bd7f15431f" /><Relationship Type="http://schemas.openxmlformats.org/officeDocument/2006/relationships/image" Target="/ppt/media/image.jpeg" Id="R0cfde775a2c94805" /><Relationship Type="http://schemas.openxmlformats.org/officeDocument/2006/relationships/notesSlide" Target="/ppt/notesSlides/notesSlide3.xml" Id="R96cfc2b143884e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80d51cacd41c7" /><Relationship Type="http://schemas.openxmlformats.org/officeDocument/2006/relationships/chart" Target="/ppt/slides/charts/chart1.xml" Id="R3eb0ed74290f4d12" /><Relationship Type="http://schemas.openxmlformats.org/officeDocument/2006/relationships/notesSlide" Target="/ppt/notesSlides/notesSlide4.xml" Id="Rd659441abbb64d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faab7451b4359" /><Relationship Type="http://schemas.openxmlformats.org/officeDocument/2006/relationships/chart" Target="/ppt/slides/charts/chart2.xml" Id="R88fcb8a13b514332" /><Relationship Type="http://schemas.openxmlformats.org/officeDocument/2006/relationships/notesSlide" Target="/ppt/notesSlides/notesSlide5.xml" Id="R1ae0e3ad5aa2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3494cf45d4415" /><Relationship Type="http://schemas.openxmlformats.org/officeDocument/2006/relationships/notesSlide" Target="/ppt/notesSlides/notesSlide6.xml" Id="Rc1834c29cce6484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Leakage score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 memory</c:v>
              </c:pt>
              <c:pt idx="1">
                <c:v>Limited</c:v>
              </c:pt>
              <c:pt idx="2">
                <c:v>Compartment</c:v>
              </c:pt>
              <c:pt idx="3">
                <c:v>Full aggregate</c:v>
              </c:pt>
            </c:strLit>
          </c:cat>
          <c:val>
            <c:numLit>
              <c:formatCode>General</c:formatCode>
              <c:ptCount val="4"/>
              <c:pt idx="0">
                <c:v>53</c:v>
              </c:pt>
              <c:pt idx="1">
                <c:v>83</c:v>
              </c:pt>
              <c:pt idx="2">
                <c:v>93</c:v>
              </c:pt>
              <c:pt idx="3">
                <c:v>97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Leakage score (%)</c:v>
          </c:tx>
          <c:spPr>
            <a:solidFill xmlns:a="http://schemas.openxmlformats.org/drawingml/2006/main">
              <a:srgbClr val="D85B4A"/>
            </a:solidFill>
          </c:spPr>
          <c:cat>
            <c:strLit>
              <c:ptCount val="3"/>
              <c:pt idx="0">
                <c:v>No mitigation</c:v>
              </c:pt>
              <c:pt idx="1">
                <c:v>Generalise details</c:v>
              </c:pt>
              <c:pt idx="2">
                <c:v>Warning prompt</c:v>
              </c:pt>
            </c:strLit>
          </c:cat>
          <c:val>
            <c:numLit>
              <c:formatCode>General</c:formatCode>
              <c:ptCount val="3"/>
              <c:pt idx="0">
                <c:v>97</c:v>
              </c:pt>
              <c:pt idx="1">
                <c:v>93</c:v>
              </c:pt>
              <c:pt idx="2">
                <c:v>97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urse-label-bg">
            <a:extLst xmlns:a="http://schemas.openxmlformats.org/drawingml/2006/main">
              <a:ext uri="{FF2B5EF4-FFF2-40B4-BE49-F238E27FC236}">
                <a16:creationId xmlns:a16="http://schemas.microsoft.com/office/drawing/2014/main" id="{FC7D5D6F-346F-4DFF-A4C8-706BB987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5E715CC1-F2CA-4637-BEE8-BAAADE8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</a:defRPr>
            </a:pPr>
            <a:r>
              <a:rPr sz="1050" b="1">
                <a:solidFill>
                  <a:srgbClr val="101418"/>
                </a:solidFill>
              </a:rPr>
              <a:t>COMP6441  |  CYBERSECURITY INDEPENDENT PROJECT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5627E5-8EC0-4A70-8089-F5EB8A6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418"/>
                </a:solidFill>
              </a:defRPr>
            </a:pPr>
            <a:r>
              <a:rPr sz="4350" b="1">
                <a:solidFill>
                  <a:srgbClr val="101418"/>
                </a:solidFill>
              </a:rPr>
              <a:t>When harmless fragments</a:t>
            </a:r>
          </a:p>
          <a:p xmlns:a="http://schemas.openxmlformats.org/drawingml/2006/main">
            <a:pPr algn="l">
              <a:defRPr sz="4350" b="1">
                <a:solidFill>
                  <a:srgbClr val="101418"/>
                </a:solidFill>
              </a:defRPr>
            </a:pPr>
            <a:r>
              <a:rPr sz="4350" b="1">
                <a:solidFill>
                  <a:srgbClr val="101418"/>
                </a:solidFill>
              </a:rPr>
              <a:t>become sensitive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CEF8654-8009-4D9C-B85C-297C3F8D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06A"/>
                </a:solidFill>
              </a:defRPr>
            </a:pPr>
            <a:r>
              <a:rPr sz="1800" b="0">
                <a:solidFill>
                  <a:srgbClr val="53606A"/>
                </a:solidFill>
              </a:rPr>
              <a:t>Measuring privacy leakage through AI context aggregation</a:t>
            </a:r>
          </a:p>
        </p:txBody>
      </p:sp>
      <p:sp>
        <p:nvSpPr>
          <p:cNvPr id="5" name="fragment-0-panel">
            <a:extLst xmlns:a="http://schemas.openxmlformats.org/drawingml/2006/main">
              <a:ext uri="{FF2B5EF4-FFF2-40B4-BE49-F238E27FC236}">
                <a16:creationId xmlns:a16="http://schemas.microsoft.com/office/drawing/2014/main" id="{B460424A-5C73-49A8-83E4-CAC2C65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ragment-0">
            <a:extLst xmlns:a="http://schemas.openxmlformats.org/drawingml/2006/main">
              <a:ext uri="{FF2B5EF4-FFF2-40B4-BE49-F238E27FC236}">
                <a16:creationId xmlns:a16="http://schemas.microsoft.com/office/drawing/2014/main" id="{51EB863F-49A5-4B5F-B0B2-DCF03BA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7:42 bus</a:t>
            </a:r>
          </a:p>
        </p:txBody>
      </p:sp>
      <p:sp>
        <p:nvSpPr>
          <p:cNvPr id="7" name="fragment-1-panel">
            <a:extLst xmlns:a="http://schemas.openxmlformats.org/drawingml/2006/main">
              <a:ext uri="{FF2B5EF4-FFF2-40B4-BE49-F238E27FC236}">
                <a16:creationId xmlns:a16="http://schemas.microsoft.com/office/drawing/2014/main" id="{92F8FBF4-8314-4A6F-B682-BA064BD3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716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ragment-1">
            <a:extLst xmlns:a="http://schemas.openxmlformats.org/drawingml/2006/main">
              <a:ext uri="{FF2B5EF4-FFF2-40B4-BE49-F238E27FC236}">
                <a16:creationId xmlns:a16="http://schemas.microsoft.com/office/drawing/2014/main" id="{B37BC147-1E3C-47B1-899F-3003323A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90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campus library</a:t>
            </a:r>
          </a:p>
        </p:txBody>
      </p:sp>
      <p:sp>
        <p:nvSpPr>
          <p:cNvPr id="9" name="fragment-2-panel">
            <a:extLst xmlns:a="http://schemas.openxmlformats.org/drawingml/2006/main">
              <a:ext uri="{FF2B5EF4-FFF2-40B4-BE49-F238E27FC236}">
                <a16:creationId xmlns:a16="http://schemas.microsoft.com/office/drawing/2014/main" id="{E54D9EDE-3C4E-49B6-B4B8-7BEDD988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ragment-2">
            <a:extLst xmlns:a="http://schemas.openxmlformats.org/drawingml/2006/main">
              <a:ext uri="{FF2B5EF4-FFF2-40B4-BE49-F238E27FC236}">
                <a16:creationId xmlns:a16="http://schemas.microsoft.com/office/drawing/2014/main" id="{E3550BAE-299F-4656-B896-7ED73439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shared rent</a:t>
            </a:r>
          </a:p>
        </p:txBody>
      </p:sp>
      <p:sp>
        <p:nvSpPr>
          <p:cNvPr id="11" name="fragment-3-panel">
            <a:extLst xmlns:a="http://schemas.openxmlformats.org/drawingml/2006/main">
              <a:ext uri="{FF2B5EF4-FFF2-40B4-BE49-F238E27FC236}">
                <a16:creationId xmlns:a16="http://schemas.microsoft.com/office/drawing/2014/main" id="{5B96691E-F15C-4583-81E5-D790F78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71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ragment-3">
            <a:extLst xmlns:a="http://schemas.openxmlformats.org/drawingml/2006/main">
              <a:ext uri="{FF2B5EF4-FFF2-40B4-BE49-F238E27FC236}">
                <a16:creationId xmlns:a16="http://schemas.microsoft.com/office/drawing/2014/main" id="{97E4D0FA-A83D-40A2-88A9-9E4E099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908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evening class</a:t>
            </a:r>
          </a:p>
        </p:txBody>
      </p:sp>
      <p:sp>
        <p:nvSpPr>
          <p:cNvPr id="13" name="fragment-4-panel">
            <a:extLst xmlns:a="http://schemas.openxmlformats.org/drawingml/2006/main">
              <a:ext uri="{FF2B5EF4-FFF2-40B4-BE49-F238E27FC236}">
                <a16:creationId xmlns:a16="http://schemas.microsoft.com/office/drawing/2014/main" id="{36D34AFE-5BA5-4E03-B44F-2253E203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ragment-4">
            <a:extLst xmlns:a="http://schemas.openxmlformats.org/drawingml/2006/main">
              <a:ext uri="{FF2B5EF4-FFF2-40B4-BE49-F238E27FC236}">
                <a16:creationId xmlns:a16="http://schemas.microsoft.com/office/drawing/2014/main" id="{25866115-4883-4596-B2D5-7681FAC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ocean pool</a:t>
            </a:r>
          </a:p>
        </p:txBody>
      </p:sp>
      <p:sp>
        <p:nvSpPr>
          <p:cNvPr id="15" name="fragment-5-panel">
            <a:extLst xmlns:a="http://schemas.openxmlformats.org/drawingml/2006/main">
              <a:ext uri="{FF2B5EF4-FFF2-40B4-BE49-F238E27FC236}">
                <a16:creationId xmlns:a16="http://schemas.microsoft.com/office/drawing/2014/main" id="{A0ADD1B7-D4AD-409E-8664-70CA7478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7187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ragment-5">
            <a:extLst xmlns:a="http://schemas.openxmlformats.org/drawingml/2006/main">
              <a:ext uri="{FF2B5EF4-FFF2-40B4-BE49-F238E27FC236}">
                <a16:creationId xmlns:a16="http://schemas.microsoft.com/office/drawing/2014/main" id="{F218E595-1959-460D-9AC6-0782FEF0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790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</a:defRPr>
            </a:pPr>
            <a:r>
              <a:rPr sz="1275" b="1">
                <a:solidFill>
                  <a:srgbClr val="101418"/>
                </a:solidFill>
              </a:rPr>
              <a:t>retail shift</a:t>
            </a:r>
          </a:p>
        </p:txBody>
      </p:sp>
      <p:sp>
        <p:nvSpPr>
          <p:cNvPr id="17" name="cover-meta">
            <a:extLst xmlns:a="http://schemas.openxmlformats.org/drawingml/2006/main">
              <a:ext uri="{FF2B5EF4-FFF2-40B4-BE49-F238E27FC236}">
                <a16:creationId xmlns:a16="http://schemas.microsoft.com/office/drawing/2014/main" id="{C66DA9EA-19E7-4F56-BFF6-233E2100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Xiaolong Ma  |  zXXXXXXX  |  90 controlled prompts</a:t>
            </a:r>
          </a:p>
        </p:txBody>
      </p:sp>
      <p:sp>
        <p:nvSpPr>
          <p:cNvPr id="18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DE144AD8-D347-4312-96E5-CD914EE4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00625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The combination reveals more than any single item.</a:t>
            </a:r>
          </a:p>
        </p:txBody>
      </p:sp>
    </p:spTree>
    <p:extLst>
      <p:ext uri="{BB962C8B-B14F-4D97-AF65-F5344CB8AC3E}">
        <p14:creationId xmlns:p14="http://schemas.microsoft.com/office/powerpoint/2010/main" val="1100677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F4813B3-5A12-42CB-BF46-EC8AA84F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Aggregation creates a new disclosure surface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C10E494-61B9-47F0-8DBA-57A3D5FF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02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12780C4B-02AA-4E90-B0DA-08A0ECC0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48C10F23-3538-4C21-96CC-58D69AE2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90825"/>
            <a:ext cx="685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81D9E38-377F-43F0-BE3A-4D640E6F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90825"/>
            <a:ext cx="685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BFA6312-B7FD-4C50-940E-0F1E77C1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90825"/>
            <a:ext cx="685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0-panel">
            <a:extLst xmlns:a="http://schemas.openxmlformats.org/drawingml/2006/main">
              <a:ext uri="{FF2B5EF4-FFF2-40B4-BE49-F238E27FC236}">
                <a16:creationId xmlns:a16="http://schemas.microsoft.com/office/drawing/2014/main" id="{156D87D9-28F3-4546-8490-1A104FD0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0-number">
            <a:extLst xmlns:a="http://schemas.openxmlformats.org/drawingml/2006/main">
              <a:ext uri="{FF2B5EF4-FFF2-40B4-BE49-F238E27FC236}">
                <a16:creationId xmlns:a16="http://schemas.microsoft.com/office/drawing/2014/main" id="{F9DD896E-477B-4713-AAC7-9EF1BFBC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flow-0-heading">
            <a:extLst xmlns:a="http://schemas.openxmlformats.org/drawingml/2006/main">
              <a:ext uri="{FF2B5EF4-FFF2-40B4-BE49-F238E27FC236}">
                <a16:creationId xmlns:a16="http://schemas.microsoft.com/office/drawing/2014/main" id="{A7155494-49A7-472F-A650-27298704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Ordinary fragments</a:t>
            </a:r>
          </a:p>
        </p:txBody>
      </p:sp>
      <p:sp>
        <p:nvSpPr>
          <p:cNvPr id="10" name="flow-0-body">
            <a:extLst xmlns:a="http://schemas.openxmlformats.org/drawingml/2006/main">
              <a:ext uri="{FF2B5EF4-FFF2-40B4-BE49-F238E27FC236}">
                <a16:creationId xmlns:a16="http://schemas.microsoft.com/office/drawing/2014/main" id="{37D378F6-5949-4810-9F8B-5F4CABF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Transport, study, shopping, work</a:t>
            </a:r>
          </a:p>
        </p:txBody>
      </p:sp>
      <p:sp>
        <p:nvSpPr>
          <p:cNvPr id="11" name="flow-1-panel">
            <a:extLst xmlns:a="http://schemas.openxmlformats.org/drawingml/2006/main">
              <a:ext uri="{FF2B5EF4-FFF2-40B4-BE49-F238E27FC236}">
                <a16:creationId xmlns:a16="http://schemas.microsoft.com/office/drawing/2014/main" id="{F95FF02D-03B9-491D-87C1-2C46BCE0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1-number">
            <a:extLst xmlns:a="http://schemas.openxmlformats.org/drawingml/2006/main">
              <a:ext uri="{FF2B5EF4-FFF2-40B4-BE49-F238E27FC236}">
                <a16:creationId xmlns:a16="http://schemas.microsoft.com/office/drawing/2014/main" id="{378F3426-6007-43DA-8ACF-BC1CCD39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flow-1-heading">
            <a:extLst xmlns:a="http://schemas.openxmlformats.org/drawingml/2006/main">
              <a:ext uri="{FF2B5EF4-FFF2-40B4-BE49-F238E27FC236}">
                <a16:creationId xmlns:a16="http://schemas.microsoft.com/office/drawing/2014/main" id="{2D348A38-DBCB-4A2A-B008-8E6C0E27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Context policy</a:t>
            </a:r>
          </a:p>
        </p:txBody>
      </p:sp>
      <p:sp>
        <p:nvSpPr>
          <p:cNvPr id="14" name="flow-1-body">
            <a:extLst xmlns:a="http://schemas.openxmlformats.org/drawingml/2006/main">
              <a:ext uri="{FF2B5EF4-FFF2-40B4-BE49-F238E27FC236}">
                <a16:creationId xmlns:a16="http://schemas.microsoft.com/office/drawing/2014/main" id="{43334584-96EC-46D4-856D-4A56C83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Which memories cross the task boundary?</a:t>
            </a:r>
          </a:p>
        </p:txBody>
      </p:sp>
      <p:sp>
        <p:nvSpPr>
          <p:cNvPr id="15" name="flow-2-panel">
            <a:extLst xmlns:a="http://schemas.openxmlformats.org/drawingml/2006/main">
              <a:ext uri="{FF2B5EF4-FFF2-40B4-BE49-F238E27FC236}">
                <a16:creationId xmlns:a16="http://schemas.microsoft.com/office/drawing/2014/main" id="{9CCA7C2B-CE60-460D-A4E8-561A7973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2-number">
            <a:extLst xmlns:a="http://schemas.openxmlformats.org/drawingml/2006/main">
              <a:ext uri="{FF2B5EF4-FFF2-40B4-BE49-F238E27FC236}">
                <a16:creationId xmlns:a16="http://schemas.microsoft.com/office/drawing/2014/main" id="{E3ECC43D-E919-42E0-9544-B4C6912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flow-2-heading">
            <a:extLst xmlns:a="http://schemas.openxmlformats.org/drawingml/2006/main">
              <a:ext uri="{FF2B5EF4-FFF2-40B4-BE49-F238E27FC236}">
                <a16:creationId xmlns:a16="http://schemas.microsoft.com/office/drawing/2014/main" id="{3329D103-72F6-488D-BAB1-531E2530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Model inference</a:t>
            </a:r>
          </a:p>
        </p:txBody>
      </p:sp>
      <p:sp>
        <p:nvSpPr>
          <p:cNvPr id="18" name="flow-2-body">
            <a:extLst xmlns:a="http://schemas.openxmlformats.org/drawingml/2006/main">
              <a:ext uri="{FF2B5EF4-FFF2-40B4-BE49-F238E27FC236}">
                <a16:creationId xmlns:a16="http://schemas.microsoft.com/office/drawing/2014/main" id="{E27C3ADD-47E3-4FD5-93EA-BA02C8D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Correlates time, place and purpose</a:t>
            </a:r>
          </a:p>
        </p:txBody>
      </p:sp>
      <p:sp>
        <p:nvSpPr>
          <p:cNvPr id="19" name="flow-3-panel">
            <a:extLst xmlns:a="http://schemas.openxmlformats.org/drawingml/2006/main">
              <a:ext uri="{FF2B5EF4-FFF2-40B4-BE49-F238E27FC236}">
                <a16:creationId xmlns:a16="http://schemas.microsoft.com/office/drawing/2014/main" id="{670F0036-F00D-4D7D-B913-58B16A3B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3-number">
            <a:extLst xmlns:a="http://schemas.openxmlformats.org/drawingml/2006/main">
              <a:ext uri="{FF2B5EF4-FFF2-40B4-BE49-F238E27FC236}">
                <a16:creationId xmlns:a16="http://schemas.microsoft.com/office/drawing/2014/main" id="{2D46BF00-C949-41AE-B1CC-7E716ED2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flow-3-heading">
            <a:extLst xmlns:a="http://schemas.openxmlformats.org/drawingml/2006/main">
              <a:ext uri="{FF2B5EF4-FFF2-40B4-BE49-F238E27FC236}">
                <a16:creationId xmlns:a16="http://schemas.microsoft.com/office/drawing/2014/main" id="{255931F2-E2FA-41D2-9010-A32CB51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Sensitive profile</a:t>
            </a:r>
          </a:p>
        </p:txBody>
      </p:sp>
      <p:sp>
        <p:nvSpPr>
          <p:cNvPr id="22" name="flow-3-body">
            <a:extLst xmlns:a="http://schemas.openxmlformats.org/drawingml/2006/main">
              <a:ext uri="{FF2B5EF4-FFF2-40B4-BE49-F238E27FC236}">
                <a16:creationId xmlns:a16="http://schemas.microsoft.com/office/drawing/2014/main" id="{9C74EACE-C754-47DF-8C0E-E8C9DF3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Location, schedule, occupation, finance</a:t>
            </a:r>
          </a:p>
        </p:txBody>
      </p:sp>
      <p:sp>
        <p:nvSpPr>
          <p:cNvPr id="23" name="linddun">
            <a:extLst xmlns:a="http://schemas.openxmlformats.org/drawingml/2006/main">
              <a:ext uri="{FF2B5EF4-FFF2-40B4-BE49-F238E27FC236}">
                <a16:creationId xmlns:a16="http://schemas.microsoft.com/office/drawing/2014/main" id="{FB3354F7-2F0B-4668-9600-7633B965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LINDDUN focus: linkability enables inference and disclosure</a:t>
            </a:r>
          </a:p>
        </p:txBody>
      </p:sp>
      <p:sp>
        <p:nvSpPr>
          <p:cNvPr id="24" name="scope">
            <a:extLst xmlns:a="http://schemas.openxmlformats.org/drawingml/2006/main">
              <a:ext uri="{FF2B5EF4-FFF2-40B4-BE49-F238E27FC236}">
                <a16:creationId xmlns:a16="http://schemas.microsoft.com/office/drawing/2014/main" id="{07F966F2-EA0A-4830-8C83-AD4CC73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Synthetic profiles only. No real-person identification, secret extraction or cross-user data access.</a:t>
            </a:r>
          </a:p>
        </p:txBody>
      </p:sp>
    </p:spTree>
    <p:extLst>
      <p:ext uri="{BB962C8B-B14F-4D97-AF65-F5344CB8AC3E}">
        <p14:creationId xmlns:p14="http://schemas.microsoft.com/office/powerpoint/2010/main" val="714644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19F1C3F-97CC-428A-98D1-CC39D383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Ninety isolated trials tested context and controls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010DAED-1FB0-4E93-BC88-59BF63EC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03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853CF36-8422-4D2B-B6A1-7D2F39D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files-panel">
            <a:extLst xmlns:a="http://schemas.openxmlformats.org/drawingml/2006/main">
              <a:ext uri="{FF2B5EF4-FFF2-40B4-BE49-F238E27FC236}">
                <a16:creationId xmlns:a16="http://schemas.microsoft.com/office/drawing/2014/main" id="{FC98C695-BB50-4033-BC76-5AF7464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files-accent">
            <a:extLst xmlns:a="http://schemas.openxmlformats.org/drawingml/2006/main">
              <a:ext uri="{FF2B5EF4-FFF2-40B4-BE49-F238E27FC236}">
                <a16:creationId xmlns:a16="http://schemas.microsoft.com/office/drawing/2014/main" id="{2B53255D-CE57-4E2B-BE90-6D07392E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files-value">
            <a:extLst xmlns:a="http://schemas.openxmlformats.org/drawingml/2006/main">
              <a:ext uri="{FF2B5EF4-FFF2-40B4-BE49-F238E27FC236}">
                <a16:creationId xmlns:a16="http://schemas.microsoft.com/office/drawing/2014/main" id="{A00CCF67-CB61-457B-91AF-255FCC20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3</a:t>
            </a:r>
          </a:p>
        </p:txBody>
      </p:sp>
      <p:sp>
        <p:nvSpPr>
          <p:cNvPr id="7" name="profiles-label">
            <a:extLst xmlns:a="http://schemas.openxmlformats.org/drawingml/2006/main">
              <a:ext uri="{FF2B5EF4-FFF2-40B4-BE49-F238E27FC236}">
                <a16:creationId xmlns:a16="http://schemas.microsoft.com/office/drawing/2014/main" id="{B433ACAE-2943-410A-B5AD-C57F07D8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synthetic profiles</a:t>
            </a:r>
          </a:p>
        </p:txBody>
      </p:sp>
      <p:sp>
        <p:nvSpPr>
          <p:cNvPr id="8" name="prompts-panel">
            <a:extLst xmlns:a="http://schemas.openxmlformats.org/drawingml/2006/main">
              <a:ext uri="{FF2B5EF4-FFF2-40B4-BE49-F238E27FC236}">
                <a16:creationId xmlns:a16="http://schemas.microsoft.com/office/drawing/2014/main" id="{B0518706-79DC-46A9-AF4C-88ADFBA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mpts-accent">
            <a:extLst xmlns:a="http://schemas.openxmlformats.org/drawingml/2006/main">
              <a:ext uri="{FF2B5EF4-FFF2-40B4-BE49-F238E27FC236}">
                <a16:creationId xmlns:a16="http://schemas.microsoft.com/office/drawing/2014/main" id="{D747A69E-B5E2-4DBE-BF10-7DDA9CF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mpts-value">
            <a:extLst xmlns:a="http://schemas.openxmlformats.org/drawingml/2006/main">
              <a:ext uri="{FF2B5EF4-FFF2-40B4-BE49-F238E27FC236}">
                <a16:creationId xmlns:a16="http://schemas.microsoft.com/office/drawing/2014/main" id="{1F2E73F3-E7D7-400D-B971-F624774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71650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90</a:t>
            </a:r>
          </a:p>
        </p:txBody>
      </p:sp>
      <p:sp>
        <p:nvSpPr>
          <p:cNvPr id="11" name="prompts-label">
            <a:extLst xmlns:a="http://schemas.openxmlformats.org/drawingml/2006/main">
              <a:ext uri="{FF2B5EF4-FFF2-40B4-BE49-F238E27FC236}">
                <a16:creationId xmlns:a16="http://schemas.microsoft.com/office/drawing/2014/main" id="{FB99EDD2-9982-409A-B0F3-50720126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14600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first responses preserved</a:t>
            </a:r>
          </a:p>
        </p:txBody>
      </p:sp>
      <p:sp>
        <p:nvSpPr>
          <p:cNvPr id="12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E6EE003B-B137-4295-93F2-F70CE44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seline-accent">
            <a:extLst xmlns:a="http://schemas.openxmlformats.org/drawingml/2006/main">
              <a:ext uri="{FF2B5EF4-FFF2-40B4-BE49-F238E27FC236}">
                <a16:creationId xmlns:a16="http://schemas.microsoft.com/office/drawing/2014/main" id="{AF92FB00-75C1-4A63-A076-81432CF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seline-value">
            <a:extLst xmlns:a="http://schemas.openxmlformats.org/drawingml/2006/main">
              <a:ext uri="{FF2B5EF4-FFF2-40B4-BE49-F238E27FC236}">
                <a16:creationId xmlns:a16="http://schemas.microsoft.com/office/drawing/2014/main" id="{10B77627-DBA1-44A9-A3E4-43C758A5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60</a:t>
            </a:r>
          </a:p>
        </p:txBody>
      </p:sp>
      <p:sp>
        <p:nvSpPr>
          <p:cNvPr id="15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BF7FD5B9-3F81-4AAC-B1C8-308B2D7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4 contexts x 5 questions</a:t>
            </a:r>
          </a:p>
        </p:txBody>
      </p:sp>
      <p:sp>
        <p:nvSpPr>
          <p:cNvPr id="16" name="mitigation-panel">
            <a:extLst xmlns:a="http://schemas.openxmlformats.org/drawingml/2006/main">
              <a:ext uri="{FF2B5EF4-FFF2-40B4-BE49-F238E27FC236}">
                <a16:creationId xmlns:a16="http://schemas.microsoft.com/office/drawing/2014/main" id="{A3BC7179-A792-417C-95C2-9EEAFD8C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6232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tigation-accent">
            <a:extLst xmlns:a="http://schemas.openxmlformats.org/drawingml/2006/main">
              <a:ext uri="{FF2B5EF4-FFF2-40B4-BE49-F238E27FC236}">
                <a16:creationId xmlns:a16="http://schemas.microsoft.com/office/drawing/2014/main" id="{3EFDA0E3-2430-4990-9CAC-73B6166A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623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tigation-value">
            <a:extLst xmlns:a="http://schemas.openxmlformats.org/drawingml/2006/main">
              <a:ext uri="{FF2B5EF4-FFF2-40B4-BE49-F238E27FC236}">
                <a16:creationId xmlns:a16="http://schemas.microsoft.com/office/drawing/2014/main" id="{AD4FC010-2CCC-4889-AB44-0E15E52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67125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30</a:t>
            </a:r>
          </a:p>
        </p:txBody>
      </p:sp>
      <p:sp>
        <p:nvSpPr>
          <p:cNvPr id="19" name="mitigation-label">
            <a:extLst xmlns:a="http://schemas.openxmlformats.org/drawingml/2006/main">
              <a:ext uri="{FF2B5EF4-FFF2-40B4-BE49-F238E27FC236}">
                <a16:creationId xmlns:a16="http://schemas.microsoft.com/office/drawing/2014/main" id="{B336D07C-7036-473E-BC63-06965D6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1007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2 controls at full context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de775a2c94805"/>
          <a:stretch xmlns:a="http://schemas.openxmlformats.org/drawingml/2006/main"/>
        </p:blipFill>
        <p:spPr>
          <a:xfrm xmlns:a="http://schemas.openxmlformats.org/drawingml/2006/main">
            <a:off x="5143500" y="1623435"/>
            <a:ext cx="6591300" cy="3382530"/>
          </a:xfrm>
          <a:prstGeom xmlns:a="http://schemas.openxmlformats.org/drawingml/2006/main" prst="rect">
            <a:avLst/>
          </a:prstGeom>
        </p:spPr>
      </p:pic>
      <p:sp>
        <p:nvSpPr>
          <p:cNvPr id="21" name="method-caption">
            <a:extLst xmlns:a="http://schemas.openxmlformats.org/drawingml/2006/main">
              <a:ext uri="{FF2B5EF4-FFF2-40B4-BE49-F238E27FC236}">
                <a16:creationId xmlns:a16="http://schemas.microsoft.com/office/drawing/2014/main" id="{E19A0C2B-940D-4B50-AD71-FD868EF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659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Each prompt opened in a new Temporary Chat; all 90 outputs parsed as JSON.</a:t>
            </a:r>
          </a:p>
        </p:txBody>
      </p:sp>
      <p:sp>
        <p:nvSpPr>
          <p:cNvPr id="22" name="method-model">
            <a:extLst xmlns:a="http://schemas.openxmlformats.org/drawingml/2006/main">
              <a:ext uri="{FF2B5EF4-FFF2-40B4-BE49-F238E27FC236}">
                <a16:creationId xmlns:a16="http://schemas.microsoft.com/office/drawing/2014/main" id="{0762471B-9388-458C-964E-729F162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86450"/>
            <a:ext cx="659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Interface label: ChatGPT Plus, High mode; exact model ID not exposed.</a:t>
            </a:r>
          </a:p>
        </p:txBody>
      </p:sp>
    </p:spTree>
    <p:extLst>
      <p:ext uri="{BB962C8B-B14F-4D97-AF65-F5344CB8AC3E}">
        <p14:creationId xmlns:p14="http://schemas.microsoft.com/office/powerpoint/2010/main" val="191200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E3F3F5A-C77E-448E-8AAA-BA83459F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More linked context drove leakage from 0.53 to 0.97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FCC132A8-32D8-43E0-8B5E-68D7F0C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04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55263C35-05CE-47E9-B1DB-7F0C0CF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000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b0ed74290f4d12"/>
          </a:graphicData>
        </a:graphic>
      </p:graphicFrame>
      <p:sp>
        <p:nvSpPr>
          <p:cNvPr id="5" name="result-callout">
            <a:extLst xmlns:a="http://schemas.openxmlformats.org/drawingml/2006/main">
              <a:ext uri="{FF2B5EF4-FFF2-40B4-BE49-F238E27FC236}">
                <a16:creationId xmlns:a16="http://schemas.microsoft.com/office/drawing/2014/main" id="{7BCD6811-9BEC-4A8D-83CF-FA72AC0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sult-value">
            <a:extLst xmlns:a="http://schemas.openxmlformats.org/drawingml/2006/main">
              <a:ext uri="{FF2B5EF4-FFF2-40B4-BE49-F238E27FC236}">
                <a16:creationId xmlns:a16="http://schemas.microsoft.com/office/drawing/2014/main" id="{CD4D34B0-F3D2-411E-94C4-039703DC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+0.44</a:t>
            </a:r>
          </a:p>
        </p:txBody>
      </p:sp>
      <p:sp>
        <p:nvSpPr>
          <p:cNvPr id="7" name="result-copy">
            <a:extLst xmlns:a="http://schemas.openxmlformats.org/drawingml/2006/main">
              <a:ext uri="{FF2B5EF4-FFF2-40B4-BE49-F238E27FC236}">
                <a16:creationId xmlns:a16="http://schemas.microsoft.com/office/drawing/2014/main" id="{E24F0AFB-22CC-4110-AC97-AF7EA73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leakage increase from one fragment to all fifteen</a:t>
            </a:r>
          </a:p>
        </p:txBody>
      </p:sp>
      <p:sp>
        <p:nvSpPr>
          <p:cNvPr id="8" name="confidence-callout">
            <a:extLst xmlns:a="http://schemas.openxmlformats.org/drawingml/2006/main">
              <a:ext uri="{FF2B5EF4-FFF2-40B4-BE49-F238E27FC236}">
                <a16:creationId xmlns:a16="http://schemas.microsoft.com/office/drawing/2014/main" id="{594F2561-E9E2-4E7C-94F9-722B1DB7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fidence-value">
            <a:extLst xmlns:a="http://schemas.openxmlformats.org/drawingml/2006/main">
              <a:ext uri="{FF2B5EF4-FFF2-40B4-BE49-F238E27FC236}">
                <a16:creationId xmlns:a16="http://schemas.microsoft.com/office/drawing/2014/main" id="{5C4A27AB-63AB-46CF-A0CF-2E613C3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0.55 → 0.83</a:t>
            </a:r>
          </a:p>
        </p:txBody>
      </p:sp>
      <p:sp>
        <p:nvSpPr>
          <p:cNvPr id="10" name="confidence-copy">
            <a:extLst xmlns:a="http://schemas.openxmlformats.org/drawingml/2006/main">
              <a:ext uri="{FF2B5EF4-FFF2-40B4-BE49-F238E27FC236}">
                <a16:creationId xmlns:a16="http://schemas.microsoft.com/office/drawing/2014/main" id="{D11EDDB7-C334-4968-8CB7-CE40E2D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mean model-reported confidence also increased</a:t>
            </a:r>
          </a:p>
        </p:txBody>
      </p:sp>
      <p:sp>
        <p:nvSpPr>
          <p:cNvPr id="11" name="result-footnote">
            <a:extLst xmlns:a="http://schemas.openxmlformats.org/drawingml/2006/main">
              <a:ext uri="{FF2B5EF4-FFF2-40B4-BE49-F238E27FC236}">
                <a16:creationId xmlns:a16="http://schemas.microsoft.com/office/drawing/2014/main" id="{961214A1-A3BA-4A99-9A5D-2961F1D9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Baseline only; n = 15 responses per condition. Descriptive scores, not population estimates.</a:t>
            </a:r>
          </a:p>
        </p:txBody>
      </p:sp>
    </p:spTree>
    <p:extLst>
      <p:ext uri="{BB962C8B-B14F-4D97-AF65-F5344CB8AC3E}">
        <p14:creationId xmlns:p14="http://schemas.microsoft.com/office/powerpoint/2010/main" val="2078478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6753847-4212-466F-A793-B3BA1D0B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Simple mitigations barely changed disclosure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8FFAE47F-E547-4301-A9BC-4BD6352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05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89AE5018-09FB-4AC9-A71D-60522F5C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fcb8a13b514332"/>
          </a:graphicData>
        </a:graphic>
      </p:graphicFrame>
      <p:sp>
        <p:nvSpPr>
          <p:cNvPr id="5" name="finding-0-panel">
            <a:extLst xmlns:a="http://schemas.openxmlformats.org/drawingml/2006/main">
              <a:ext uri="{FF2B5EF4-FFF2-40B4-BE49-F238E27FC236}">
                <a16:creationId xmlns:a16="http://schemas.microsoft.com/office/drawing/2014/main" id="{0262D7D7-705C-447D-BF18-CCD07BE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ding-0-title">
            <a:extLst xmlns:a="http://schemas.openxmlformats.org/drawingml/2006/main">
              <a:ext uri="{FF2B5EF4-FFF2-40B4-BE49-F238E27FC236}">
                <a16:creationId xmlns:a16="http://schemas.microsoft.com/office/drawing/2014/main" id="{06C2D026-5BF5-41D5-9B43-88AC8978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7165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8"/>
                </a:solidFill>
              </a:defRPr>
            </a:pPr>
            <a:r>
              <a:rPr sz="1425" b="1">
                <a:solidFill>
                  <a:srgbClr val="101418"/>
                </a:solidFill>
              </a:rPr>
              <a:t>Exact-detail redaction</a:t>
            </a:r>
          </a:p>
        </p:txBody>
      </p:sp>
      <p:sp>
        <p:nvSpPr>
          <p:cNvPr id="7" name="finding-0-body">
            <a:extLst xmlns:a="http://schemas.openxmlformats.org/drawingml/2006/main">
              <a:ext uri="{FF2B5EF4-FFF2-40B4-BE49-F238E27FC236}">
                <a16:creationId xmlns:a16="http://schemas.microsoft.com/office/drawing/2014/main" id="{27F76FDC-C0BF-4A61-86F2-6B85816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Only a 0.04 reduction; broader routines still linked.</a:t>
            </a:r>
          </a:p>
        </p:txBody>
      </p:sp>
      <p:sp>
        <p:nvSpPr>
          <p:cNvPr id="8" name="finding-1-panel">
            <a:extLst xmlns:a="http://schemas.openxmlformats.org/drawingml/2006/main">
              <a:ext uri="{FF2B5EF4-FFF2-40B4-BE49-F238E27FC236}">
                <a16:creationId xmlns:a16="http://schemas.microsoft.com/office/drawing/2014/main" id="{03856E2B-A1D6-471D-AE78-7C4D01FC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81325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nding-1-title">
            <a:extLst xmlns:a="http://schemas.openxmlformats.org/drawingml/2006/main">
              <a:ext uri="{FF2B5EF4-FFF2-40B4-BE49-F238E27FC236}">
                <a16:creationId xmlns:a16="http://schemas.microsoft.com/office/drawing/2014/main" id="{659CF0A0-7733-40A9-B0C0-8E661360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527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8"/>
                </a:solidFill>
              </a:defRPr>
            </a:pPr>
            <a:r>
              <a:rPr sz="1425" b="1">
                <a:solidFill>
                  <a:srgbClr val="101418"/>
                </a:solidFill>
              </a:rPr>
              <a:t>Sensitive-inference warning</a:t>
            </a:r>
          </a:p>
        </p:txBody>
      </p:sp>
      <p:sp>
        <p:nvSpPr>
          <p:cNvPr id="10" name="finding-1-body">
            <a:extLst xmlns:a="http://schemas.openxmlformats.org/drawingml/2006/main">
              <a:ext uri="{FF2B5EF4-FFF2-40B4-BE49-F238E27FC236}">
                <a16:creationId xmlns:a16="http://schemas.microsoft.com/office/drawing/2014/main" id="{F97CA565-A05D-4AF1-8BDC-997701A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1472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No score reduction; confidence fell by about 0.03.</a:t>
            </a:r>
          </a:p>
        </p:txBody>
      </p:sp>
      <p:sp>
        <p:nvSpPr>
          <p:cNvPr id="11" name="finding-2-panel">
            <a:extLst xmlns:a="http://schemas.openxmlformats.org/drawingml/2006/main">
              <a:ext uri="{FF2B5EF4-FFF2-40B4-BE49-F238E27FC236}">
                <a16:creationId xmlns:a16="http://schemas.microsoft.com/office/drawing/2014/main" id="{40067F71-B732-44E6-A8F1-D57783E1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nding-2-title">
            <a:extLst xmlns:a="http://schemas.openxmlformats.org/drawingml/2006/main">
              <a:ext uri="{FF2B5EF4-FFF2-40B4-BE49-F238E27FC236}">
                <a16:creationId xmlns:a16="http://schemas.microsoft.com/office/drawing/2014/main" id="{C8DF172B-1025-4E94-84C8-C5E058E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3390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8"/>
                </a:solidFill>
              </a:defRPr>
            </a:pPr>
            <a:r>
              <a:rPr sz="1425" b="1">
                <a:solidFill>
                  <a:srgbClr val="101418"/>
                </a:solidFill>
              </a:rPr>
              <a:t>Weak compartments</a:t>
            </a:r>
          </a:p>
        </p:txBody>
      </p:sp>
      <p:sp>
        <p:nvSpPr>
          <p:cNvPr id="13" name="finding-2-body">
            <a:extLst xmlns:a="http://schemas.openxmlformats.org/drawingml/2006/main">
              <a:ext uri="{FF2B5EF4-FFF2-40B4-BE49-F238E27FC236}">
                <a16:creationId xmlns:a16="http://schemas.microsoft.com/office/drawing/2014/main" id="{AF5D0A0F-DBDD-40A3-A7A9-48A79A6D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Five correlated fragments still leaked 0.93.</a:t>
            </a:r>
          </a:p>
        </p:txBody>
      </p:sp>
      <p:sp>
        <p:nvSpPr>
          <p:cNvPr id="14" name="mitigation-footnote">
            <a:extLst xmlns:a="http://schemas.openxmlformats.org/drawingml/2006/main">
              <a:ext uri="{FF2B5EF4-FFF2-40B4-BE49-F238E27FC236}">
                <a16:creationId xmlns:a16="http://schemas.microsoft.com/office/drawing/2014/main" id="{7864E315-49AF-4F3E-8FFD-3F16D08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Full aggregated context only; n = 15 per treatment.</a:t>
            </a:r>
          </a:p>
        </p:txBody>
      </p:sp>
    </p:spTree>
    <p:extLst>
      <p:ext uri="{BB962C8B-B14F-4D97-AF65-F5344CB8AC3E}">
        <p14:creationId xmlns:p14="http://schemas.microsoft.com/office/powerpoint/2010/main" val="1014783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2E048A3-644D-432C-809B-BE00A61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Protect privacy before context reaches the model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661187FA-80E6-4E68-B4E9-DD7FB50C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06</a:t>
            </a:r>
          </a:p>
        </p:txBody>
      </p:sp>
      <p:sp>
        <p:nvSpPr>
          <p:cNvPr id="3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430A7075-9C0D-4FD2-837D-57B58401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-0-number">
            <a:extLst xmlns:a="http://schemas.openxmlformats.org/drawingml/2006/main">
              <a:ext uri="{FF2B5EF4-FFF2-40B4-BE49-F238E27FC236}">
                <a16:creationId xmlns:a16="http://schemas.microsoft.com/office/drawing/2014/main" id="{327421C4-05B0-447D-885C-C07CC6B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rec-0-title">
            <a:extLst xmlns:a="http://schemas.openxmlformats.org/drawingml/2006/main">
              <a:ext uri="{FF2B5EF4-FFF2-40B4-BE49-F238E27FC236}">
                <a16:creationId xmlns:a16="http://schemas.microsoft.com/office/drawing/2014/main" id="{A293F48F-440C-4028-A322-5AB2525A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Minimise</a:t>
            </a:r>
          </a:p>
        </p:txBody>
      </p:sp>
      <p:sp>
        <p:nvSpPr>
          <p:cNvPr id="6" name="rec-0-rule">
            <a:extLst xmlns:a="http://schemas.openxmlformats.org/drawingml/2006/main">
              <a:ext uri="{FF2B5EF4-FFF2-40B4-BE49-F238E27FC236}">
                <a16:creationId xmlns:a16="http://schemas.microsoft.com/office/drawing/2014/main" id="{C260D3B3-A3D2-45C2-9C12-8D85634D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12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-0-body">
            <a:extLst xmlns:a="http://schemas.openxmlformats.org/drawingml/2006/main">
              <a:ext uri="{FF2B5EF4-FFF2-40B4-BE49-F238E27FC236}">
                <a16:creationId xmlns:a16="http://schemas.microsoft.com/office/drawing/2014/main" id="{DB4B6F08-7E70-4679-B2B3-FD60F99B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Retrieve only what the current task needs.</a:t>
            </a:r>
          </a:p>
        </p:txBody>
      </p:sp>
      <p:sp>
        <p:nvSpPr>
          <p:cNvPr id="8" name="rec-1-number">
            <a:extLst xmlns:a="http://schemas.openxmlformats.org/drawingml/2006/main">
              <a:ext uri="{FF2B5EF4-FFF2-40B4-BE49-F238E27FC236}">
                <a16:creationId xmlns:a16="http://schemas.microsoft.com/office/drawing/2014/main" id="{432646AF-1171-41A7-8FAC-1624A07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rec-1-title">
            <a:extLst xmlns:a="http://schemas.openxmlformats.org/drawingml/2006/main">
              <a:ext uri="{FF2B5EF4-FFF2-40B4-BE49-F238E27FC236}">
                <a16:creationId xmlns:a16="http://schemas.microsoft.com/office/drawing/2014/main" id="{7FBAEFD5-B6D0-4635-8A8C-2A582F26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Isolate by purpose</a:t>
            </a:r>
          </a:p>
        </p:txBody>
      </p:sp>
      <p:sp>
        <p:nvSpPr>
          <p:cNvPr id="10" name="rec-1-rule">
            <a:extLst xmlns:a="http://schemas.openxmlformats.org/drawingml/2006/main">
              <a:ext uri="{FF2B5EF4-FFF2-40B4-BE49-F238E27FC236}">
                <a16:creationId xmlns:a16="http://schemas.microsoft.com/office/drawing/2014/main" id="{AAF86FAE-FD41-4394-95D3-4A8077FE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-1-body">
            <a:extLst xmlns:a="http://schemas.openxmlformats.org/drawingml/2006/main">
              <a:ext uri="{FF2B5EF4-FFF2-40B4-BE49-F238E27FC236}">
                <a16:creationId xmlns:a16="http://schemas.microsoft.com/office/drawing/2014/main" id="{42A3F6B9-2A79-47D3-99A3-82B2EC11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Test whether each compartment still encodes sensitive attributes.</a:t>
            </a:r>
          </a:p>
        </p:txBody>
      </p:sp>
      <p:sp>
        <p:nvSpPr>
          <p:cNvPr id="12" name="rec-2-number">
            <a:extLst xmlns:a="http://schemas.openxmlformats.org/drawingml/2006/main">
              <a:ext uri="{FF2B5EF4-FFF2-40B4-BE49-F238E27FC236}">
                <a16:creationId xmlns:a16="http://schemas.microsoft.com/office/drawing/2014/main" id="{65DE3CB1-D5D8-47AE-AFF8-7619255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rec-2-title">
            <a:extLst xmlns:a="http://schemas.openxmlformats.org/drawingml/2006/main">
              <a:ext uri="{FF2B5EF4-FFF2-40B4-BE49-F238E27FC236}">
                <a16:creationId xmlns:a16="http://schemas.microsoft.com/office/drawing/2014/main" id="{82626102-70BE-469A-A1D7-556FD27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Red-team combinations</a:t>
            </a:r>
          </a:p>
        </p:txBody>
      </p:sp>
      <p:sp>
        <p:nvSpPr>
          <p:cNvPr id="14" name="rec-2-rule">
            <a:extLst xmlns:a="http://schemas.openxmlformats.org/drawingml/2006/main">
              <a:ext uri="{FF2B5EF4-FFF2-40B4-BE49-F238E27FC236}">
                <a16:creationId xmlns:a16="http://schemas.microsoft.com/office/drawing/2014/main" id="{E881C8D6-CF41-4E35-A5C5-07ADD13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-2-body">
            <a:extLst xmlns:a="http://schemas.openxmlformats.org/drawingml/2006/main">
              <a:ext uri="{FF2B5EF4-FFF2-40B4-BE49-F238E27FC236}">
                <a16:creationId xmlns:a16="http://schemas.microsoft.com/office/drawing/2014/main" id="{3283B985-5C8C-49F0-AC06-3B1EB435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Evaluate linkability and attribute inference, not only direct secrets.</a:t>
            </a:r>
          </a:p>
        </p:txBody>
      </p:sp>
      <p:sp>
        <p:nvSpPr>
          <p:cNvPr id="16" name="rec-3-number">
            <a:extLst xmlns:a="http://schemas.openxmlformats.org/drawingml/2006/main">
              <a:ext uri="{FF2B5EF4-FFF2-40B4-BE49-F238E27FC236}">
                <a16:creationId xmlns:a16="http://schemas.microsoft.com/office/drawing/2014/main" id="{3778EDC2-37E0-4517-ACEB-D4481B2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7" name="rec-3-title">
            <a:extLst xmlns:a="http://schemas.openxmlformats.org/drawingml/2006/main">
              <a:ext uri="{FF2B5EF4-FFF2-40B4-BE49-F238E27FC236}">
                <a16:creationId xmlns:a16="http://schemas.microsoft.com/office/drawing/2014/main" id="{E4206674-6FF7-4ACE-9647-B6BF7415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52825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Treat warnings as secondary</a:t>
            </a:r>
          </a:p>
        </p:txBody>
      </p:sp>
      <p:sp>
        <p:nvSpPr>
          <p:cNvPr id="18" name="rec-3-rule">
            <a:extLst xmlns:a="http://schemas.openxmlformats.org/drawingml/2006/main">
              <a:ext uri="{FF2B5EF4-FFF2-40B4-BE49-F238E27FC236}">
                <a16:creationId xmlns:a16="http://schemas.microsoft.com/office/drawing/2014/main" id="{57BE3014-1264-4BF4-82F9-64716A1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-3-body">
            <a:extLst xmlns:a="http://schemas.openxmlformats.org/drawingml/2006/main">
              <a:ext uri="{FF2B5EF4-FFF2-40B4-BE49-F238E27FC236}">
                <a16:creationId xmlns:a16="http://schemas.microsoft.com/office/drawing/2014/main" id="{F8B4A0DA-019D-4C5B-83E5-0342ED86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Enforce boundaries in data flow, then add policy instructions.</a:t>
            </a:r>
          </a:p>
        </p:txBody>
      </p:sp>
      <p:sp>
        <p:nvSpPr>
          <p:cNvPr id="20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E36CA91D-C74D-43E9-958F-27D1208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09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17277D3B-B779-46B2-A002-470C11AB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Privacy is a property of the combination, not just the individual fragment.</a:t>
            </a:r>
          </a:p>
        </p:txBody>
      </p:sp>
    </p:spTree>
    <p:extLst>
      <p:ext uri="{BB962C8B-B14F-4D97-AF65-F5344CB8AC3E}">
        <p14:creationId xmlns:p14="http://schemas.microsoft.com/office/powerpoint/2010/main" val="1821692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2026-07-22T00:00:22.7020000Z</dcterms:created>
  <dcterms:modified xsi:type="dcterms:W3CDTF">2026-07-22T00:00:22.7020000Z</dcterms:modified>
</coreProperties>
</file>